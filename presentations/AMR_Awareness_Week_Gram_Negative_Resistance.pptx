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61a0d82-4476-8e9d-5c47-7e377adb1f0c}">
          <p14:sldIdLst>
            <p14:sldId id="256"/>
            <p14:sldId id="257"/>
            <p14:sldId id="258"/>
          </p14:sldIdLst>
        </p14:section>
        <p14:section name="Spread and Mechanisms" id="{d9083260-d4af-f090-9307-91117f0ec221}">
          <p14:sldIdLst>
            <p14:sldId id="259"/>
            <p14:sldId id="260"/>
          </p14:sldIdLst>
        </p14:section>
        <p14:section name="Key Resistant Pathogens" id="{056cfd62-2045-9b51-aa67-60aa82d39206}">
          <p14:sldIdLst>
            <p14:sldId id="261"/>
            <p14:sldId id="262"/>
          </p14:sldIdLst>
        </p14:section>
        <p14:section name="Treatment" id="{11e5bd75-c075-6551-1b88-9e8bb18e6460}">
          <p14:sldIdLst>
            <p14:sldId id="263"/>
            <p14:sldId id="264"/>
            <p14:sldId id="265"/>
            <p14:sldId id="266"/>
          </p14:sldIdLst>
        </p14:section>
        <p14:section name="The Road Ahead" id="{cd75360d-bef2-04da-1808-06079ca74d31}">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E3B"/>
                </a:solidFill>
                <a:latin typeface="+mn-lt"/>
              </a:defRPr>
            </a:pPr>
            <a:r>
              <a:rPr sz="1400" b="0" i="0" u="none" strike="noStrike">
                <a:solidFill>
                  <a:srgbClr val="0B2E3B"/>
                </a:solidFill>
                <a:latin typeface="+mn-lt"/>
              </a:rPr>
              <a:t>Share of E. coli isolates producing ESBL (%)</a:t>
            </a:r>
          </a:p>
        </c:rich>
      </c:tx>
      <c:layout/>
      <c:overlay val="0"/>
    </c:title>
    <c:autoTitleDeleted val="0"/>
    <c:plotArea>
      <c:layout/>
      <c:barChart>
        <c:barDir val="bar"/>
        <c:grouping val="clustered"/>
        <c:varyColors val="0"/>
        <c:ser>
          <c:idx val="0"/>
          <c:order val="0"/>
          <c:tx>
            <c:strRef>
              <c:f>Sheet1!$B$1</c:f>
              <c:strCache>
                <c:ptCount val="1"/>
                <c:pt idx="0">
                  <c:v>ESBL-producing E. coli isolates (%)</c:v>
                </c:pt>
              </c:strCache>
            </c:strRef>
          </c:tx>
          <c:spPr>
            <a:solidFill>
              <a:srgbClr val="0E7C7B"/>
            </a:solidFill>
            <a:effectLst/>
          </c:spPr>
          <c:invertIfNegative val="0"/>
          <c:dLbls>
            <c:numFmt formatCode="0&quot;%&quot;" sourceLinked="0"/>
            <c:txPr>
              <a:bodyPr/>
              <a:lstStyle/>
              <a:p>
                <a:pPr>
                  <a:defRPr b="0" i="0" strike="noStrike" sz="1300" u="none">
                    <a:solidFill>
                      <a:srgbClr val="14232B"/>
                    </a:solidFill>
                    <a:latin typeface="+mn-lt"/>
                  </a:defRPr>
                </a:pPr>
              </a:p>
            </c:txPr>
            <c:showLegendKey val="0"/>
            <c:showVal val="1"/>
            <c:showCatName val="0"/>
            <c:showSerName val="0"/>
            <c:showPercent val="0"/>
            <c:showBubbleSize val="0"/>
            <c:showLeaderLines val="0"/>
          </c:dLbls>
          <c:dPt>
            <c:idx val="0"/>
            <c:invertIfNegative val="0"/>
            <c:bubble3D val="0"/>
            <c:spPr>
              <a:solidFill>
                <a:srgbClr val="0E7C7B"/>
              </a:solidFill>
              <a:effectLst/>
            </c:spPr>
          </c:dPt>
          <c:dPt>
            <c:idx val="1"/>
            <c:invertIfNegative val="0"/>
            <c:bubble3D val="0"/>
            <c:spPr>
              <a:solidFill>
                <a:srgbClr val="0E7C7B"/>
              </a:solidFill>
              <a:effectLst/>
            </c:spPr>
          </c:dPt>
          <c:dPt>
            <c:idx val="2"/>
            <c:invertIfNegative val="0"/>
            <c:bubble3D val="0"/>
            <c:spPr>
              <a:solidFill>
                <a:srgbClr val="0E7C7B"/>
              </a:solidFill>
              <a:effectLst/>
            </c:spPr>
          </c:dPt>
          <c:dPt>
            <c:idx val="3"/>
            <c:invertIfNegative val="0"/>
            <c:bubble3D val="0"/>
            <c:spPr>
              <a:solidFill>
                <a:srgbClr val="0E7C7B"/>
              </a:solidFill>
              <a:effectLst/>
            </c:spPr>
          </c:dPt>
          <c:dPt>
            <c:idx val="4"/>
            <c:invertIfNegative val="0"/>
            <c:bubble3D val="0"/>
            <c:spPr>
              <a:solidFill>
                <a:srgbClr val="2E5E6E"/>
              </a:solidFill>
              <a:effectLst/>
            </c:spPr>
          </c:dPt>
          <c:cat>
            <c:multiLvlStrRef>
              <c:f>Sheet1!$A$2:$A$6</c:f>
              <c:multiLvlStrCache>
                <c:ptCount val="5"/>
                <c:lvl>
                  <c:pt idx="0">
                    <c:v>Egypt</c:v>
                  </c:pt>
                  <c:pt idx="1">
                    <c:v>China</c:v>
                  </c:pt>
                  <c:pt idx="2">
                    <c:v>Russia</c:v>
                  </c:pt>
                  <c:pt idx="3">
                    <c:v>Mexico</c:v>
                  </c:pt>
                  <c:pt idx="4">
                    <c:v>United States*</c:v>
                  </c:pt>
                </c:lvl>
              </c:multiLvlStrCache>
            </c:multiLvlStrRef>
          </c:cat>
          <c:val>
            <c:numRef>
              <c:f>Sheet1!$B$2:$B$6</c:f>
              <c:numCache>
                <c:formatCode>General</c:formatCode>
                <c:ptCount val="5"/>
                <c:pt idx="0">
                  <c:v>77</c:v>
                </c:pt>
                <c:pt idx="1">
                  <c:v>64</c:v>
                </c:pt>
                <c:pt idx="2">
                  <c:v>62</c:v>
                </c:pt>
                <c:pt idx="3">
                  <c:v>58</c:v>
                </c:pt>
                <c:pt idx="4">
                  <c:v>20</c:v>
                </c:pt>
              </c:numCache>
            </c:numRef>
          </c:val>
        </c:ser>
        <c:dLbls>
          <c:numFmt formatCode="0&quot;%&quot;" sourceLinked="0"/>
          <c:txPr>
            <a:bodyPr/>
            <a:lstStyle/>
            <a:p>
              <a:pPr>
                <a:defRPr b="0" i="0" strike="noStrike" sz="1300" u="none">
                  <a:solidFill>
                    <a:srgbClr val="14232B"/>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5B6770"/>
                </a:solidFill>
                <a:latin typeface="+mn-lt"/>
              </a:defRPr>
            </a:pPr>
            <a:endParaRPr lang="en-US"/>
          </a:p>
        </c:txPr>
        <c:crossAx val="2094734552"/>
        <c:crosses val="autoZero"/>
        <c:auto val="1"/>
        <c:lblAlgn val="ctr"/>
        <c:noMultiLvlLbl val="1"/>
      </c:catAx>
      <c:valAx>
        <c:axId val="2094734552"/>
        <c:scaling>
          <c:orientation val="minMax"/>
          <c:max val="9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Welcome everyone to this AMR Awareness Week session. Today's talk is built on a 2026 New England Journal of Medicine review by Dr. Pranita Tamma on gram-negative bacterial resistance. Over the next 20 minutes we will cover why this matters, how these bacteria spread and resist antibiotics, the most important resistant pathogens, how we treat them today, and what it will take to stay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In 2019, antimicrobial-resistant infections were estimated to cause 1.27 million deaths, and gram-negative bacteria drive much of that burden. Projections suggest attributable mortality may rise by more than 70% by 2050, approaching current global cancer mortality. The burden is concentrated in health care: ICUs and skilled nursing facilities, where prolonged stays, frequent antibiotic exposure and colonization fuel transmission. After a long drought, several new agents have arrived in the past decade, but access is limited in low- and middle-income countries and rural areas. And even where new drugs exist, resistance may already be present because one mechanism can defeat several drugs.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There is no consensus definition of gram-negative resistance. Mechanisms differ by species, intrinsic activity differs, and breakpoints differ: for meropenem, E. coli is susceptible at 1 or less, P. aeruginosa at 2 or less. Labels like 'multidrug resistant' fall short, because about half of meropenem-resistant P. aeruginosa still respond to cefepime or piperacillin–tazobactam. So the concept of difficult-to-treat resistance has gained traction: resistance to all traditional beta-lactams including carbapenems, plus fluoroquinolones. That is the point where only the newest drugs remain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Resistance emerges and spreads through a mix of human, environmental and microbiologic factors: movement of people, animals and goods; overuse of antibiotics in medicine, agriculture and veterinary practice; environmental reservoirs like sink drains, wastewater and soil; and lapses in infection control such as hand hygiene, cleaning and isolation. The amplifier is mobile genetic elements. Plasmids carrying many resistance genes can move between bacteria, turning a susceptible organism multidrug-resistant in one step. Larger plasmids often have anti-restriction systems, and over 60% colonize multiple species. Awareness point: several of these drivers, especially hand hygiene and antibiotic use, are in our own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Gram-negative bacteria resist antibiotics in four main ways. One, reduced entry: porins are channels in the outer membrane; losing OmpK36 in Klebsiella or OprD in Pseudomonas keeps drugs out. Cefiderocol gets around porins by hijacking iron transport, but even that can be lost through mutations in TonB-dependent receptors. Two, efflux pumps like AcrAB–TolC in E. coli push out beta-lactams, fluoroquinolones, tetracyclines and more, so one pump can cause resistance to several classes. Three, target modification: gyrA and parC mutations defeat fluoroquinolones; altered penicillin-binding proteins defeat beta-lactams; lipid A changes like mcr defeat colistin. Four, and most important clinically, enzymes, above all beta-lactamases, with over 12,000 variants. On top of these, bacteria adapt through stress responses, persister states and biofilms. Pseudomonas often combines several mechanisms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ESBLs, mostly from E. coli and Klebsiella pneumoniae, hydrolyze most beta-lactams except carbapenems, and usually travel with resistance to fluoroquinolones, TMP-SMX, tetracyclines and aminoglycosides. CTX-M accounts for over 95% of ESBL enzymes. In the US about 20% of E. coli UTIs are ESBL producers, over 40% in some regions, which often means hospitalization because oral options are limited. Elsewhere it is far higher: 77% of E. coli isolates in Egypt, 64% in China, 62% in Russia, 58% in Mexico. Spread is mostly community-based, largely one E. coli lineage, ST131. US incidence rose 53% between 2012 and 2017. Travel matters: 20–35% of travelers to endemic regions come home colonized, up to 70% after South Asia, and about 10% are still colonized a year later. Extensively drug-resistant Salmonella Typhi from South Asia is a growing concern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Carbapenemases inactivate the carbapenems we keep as a last line. KPC was first identified in 1996 in North Carolina and spread worldwide through a successful clone, ST258, and plasmids. It makes up about 80% of US carbapenemase producers, though that share is falling as others rise. NDM was first recognized in 2008 in a patient who had received care in New Delhi. US incidence rose about 461% between 2019 and 2023. It is endemic in South Asia and the Balkans and has been detected in municipal water. VIM has spread in Pseudomonas lineages, with mortality over 30%. In Greece its share among carbapenem-resistant Pseudomonas went from 14% to over 50%. A 2022–2023 US outbreak tied to contaminated artificial tears caused 81 infections in 18 states; 22% led to enucleation and 7% to death. IMP producers tend to have lower mortality. OXA-48-like enzymes are about 5% of US CRE but dominant in Europe, North Africa and the Middle East, and over 90% of carbapenem-resistant Acinetobacter make OXA enzymes.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Before any specific drug, the review stresses strategies that slow resistance. These are the core AMR awareness messages. Prescribe judiciously: unnecessary starts, long courses and broad-spectrum drugs without microbiologic justification all increase selective pressure. Get the dose and infusion right; subtherapeutic levels let bacteria persist and select resistant subpopulations. Prioritize source control such as abscess drainage or device removal. And use the shortest effective course. Importantly, resistance alone does not warrant longer treatment; duration should be the same whatever the susceptibility phenotype.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Effective management increasingly depends on knowing the specific beta-lactamase. Clinical labs now use rapid molecular tests for key families, CTX-M and the major carbapenemases. On blood cultures, results are typically available within about an hour of organism growth, and commercial assays also work on urine, respiratory and intra-abdominal samples. That turns 'resistant' into an actionable enzyme, which is what drives the drug choice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This grid, adapted from Figure 2 of the review, shows the IV beta-lactam agents approved in the US since 2014 and whether they are expected to work against each resistance type. Teal with a check means expected activity; red with a cross means none. Three patterns stand out. First, the metallo-beta-lactamases, NDM, VIM and IMP, defeat most agents; only cefiderocol, aztreonam–avibactam and cefepime–zidebactam cover them. Second, cefiderocol and cefepime–zidebactam are active across all six columns, so they are reserved for when resistance or toxicity rules out other beta-lactams. Third, carbapenem-resistant Acinetobacter is a separate problem, covered mainly by sulbactam–durlobactam. That is why knowing the enzyme matters: a drug that is perfect for KPC can be useless for NDM.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A quick summary of pathogen-directed treatment, based on Table 2 and the IDSA 2026 guidance. ESBL Enterobacterales: for uncomplicated cystitis, nitrofurantoin or TMP-SMX. For bloodstream and other invasive infections, carbapenems are preferred; the MERINO trial comparing piperacillin–tazobactam with meropenem was stopped early because of higher mortality with pip–tazo. Once stable, oral fluoroquinolones or TMP-SMX can be used if susceptible. CRE: therapy is enzyme-specific. KPC: ceftazidime–avibactam or meropenem–vaborbactam. NDM: aztreonam–avibactam, cefepime–zidebactam or cefiderocol. OXA-48-like: ceftazidime–avibactam. These have displaced polymyxins, which have worse outcomes and more toxicity. DTR Pseudomonas: ceftolozane–tazobactam or ceftazidime–avibactam, but resistance emerges during therapy in at least 20% of cases, so test later isolates again. CRAB: sulbactam–durlobactam with a carbapenem; if unavailable, high-dose ampicillin–sulbactam with another active agent. Mortality in ICU pneumonia and bacteremia exceeds 40%. This is a summary for awareness. Always use full guidelines for dosing.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Scientific ingenuity alone will not sustain the pipeline. Unpredictable returns have pushed many companies out, investor confidence has eroded and the workforce has shrunk. The reason is structural: antibiotics are prescribed for short courses, and good stewardship means using them as little as possible, so companies prioritize chronic-disease drugs with bigger, steadier markets. The review calls for rebuilding research and manufacturing capacity, international trial networks, and economic frameworks that decouple revenue from volume, such as subscription models, pull incentives or pooled procurement. These would reward innovation while keeping stewardship and equitable access intact. Without such reforms, the gap between rising resistance and our ability to treat it will widen.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Alongside new antibiotics there is renewed interest in non-antibiotic approaches, and phage therapy has made the most progress. Phages are species-specific viruses that infect, replicate in and lyse bacteria, and they are naturally cleared once their target is gone. The same phage typically works against both susceptible and highly resistant isolates of a species. Reported safety has been reassuring and several clinical trials are underway. Other options include monoclonal antibodies against endotoxin or capsule, antivirulence agents that disarm rather than kill, engineered lysins that cross the outer membrane, microbiome manipulation, and immune-modulating therapies. These remain investigational, but could become add-on or stand-alone treatments.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So what can we take away this AMR Awareness Week? These actions follow from the review. Break transmission with hand hygiene, cleaning and isolation; the review names these lapses as a driver of spread. Prescribe wisely: only when needed, the narrowest effective drug, the shortest effective course. Test, then target: send cultures, use rapid diagnostics, match therapy to the enzyme. Protect our newest drugs by reserving agents like cefiderocol and cefepime–zidebactam. Ask about recent travel and health care abroad. And think One Health: resistance moves between people, animals and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To conclude, in the words of the review: the rise of gram-negative resistance threatens the foundations of modern medicine, but its trajectory is not predetermined. Recent advances in diagnostics and therapeutics show that solutions exist. What remains is building the governance, financing and research networks to deploy them. Because resistance is global, the solutions must be collective, treating antibiotics as shared public goods. The question is whether we can act with enough urgency. If we can, resistance may be contained well enough to preserve the gains of modern medicine.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7315200" cy="365760"/>
          </a:xfrm>
          <a:prstGeom prst="rect">
            <a:avLst/>
          </a:prstGeom>
          <a:noFill/>
          <a:ln/>
        </p:spPr>
        <p:txBody>
          <a:bodyPr wrap="square" rtlCol="0"/>
          <a:lstStyle>
            <a:lvl1pPr indent="0" marL="0">
              <a:buNone/>
              <a:defRPr lang="en-US" sz="1400" b="1" spc="400" kern="0" dirty="0">
                <a:solidFill>
                  <a:schemeClr val="accent3"/>
                </a:solidFill>
              </a:defRPr>
            </a:lvl1pPr>
          </a:lstStyle>
          <a:p>
            <a:pPr indent="0" marL="0">
              <a:buNone/>
            </a:pPr>
            <a:endParaRPr lang="en-US" sz="1400" dirty="0"/>
          </a:p>
        </p:txBody>
      </p:sp>
      <p:sp>
        <p:nvSpPr>
          <p:cNvPr id="3" name="Text 0"/>
          <p:cNvSpPr/>
          <p:nvPr>
            <p:ph idx="101" type="title" hasCustomPrompt="1"/>
          </p:nvPr>
        </p:nvSpPr>
        <p:spPr>
          <a:xfrm>
            <a:off x="548640" y="1828800"/>
            <a:ext cx="7315200" cy="21031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4114800"/>
            <a:ext cx="7132320" cy="128016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4" name="Text 0"/>
          <p:cNvSpPr/>
          <p:nvPr/>
        </p:nvSpPr>
        <p:spPr>
          <a:xfrm>
            <a:off x="548640" y="6473952"/>
            <a:ext cx="9144000" cy="274320"/>
          </a:xfrm>
          <a:prstGeom prst="rect">
            <a:avLst/>
          </a:prstGeom>
          <a:noFill/>
          <a:ln/>
        </p:spPr>
        <p:txBody>
          <a:bodyPr wrap="square" lIns="0" tIns="0" rIns="0" bIns="0" rtlCol="0" anchor="ctr"/>
          <a:lstStyle/>
          <a:p>
            <a:pPr indent="0" marL="0">
              <a:buNone/>
            </a:pPr>
            <a:r>
              <a:rPr lang="en-US" sz="900" dirty="0">
                <a:solidFill>
                  <a:schemeClr val="accent6"/>
                </a:solidFill>
              </a:rPr>
              <a:t>Source: Tamma PD. Gram-Negative Bacterial Resistance. N Engl J Med 2026;395:1728-43</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7315200" cy="365760"/>
          </a:xfrm>
          <a:prstGeom prst="rect">
            <a:avLst/>
          </a:prstGeom>
          <a:noFill/>
          <a:ln/>
        </p:spPr>
        <p:txBody>
          <a:bodyPr wrap="square" lIns="0" tIns="0" rIns="0" bIns="0" rtlCol="0"/>
          <a:lstStyle/>
          <a:p>
            <a:pPr indent="0" marL="0">
              <a:buNone/>
            </a:pPr>
            <a:r>
              <a:rPr lang="en-US" sz="1400" b="1" spc="400" kern="0" dirty="0">
                <a:solidFill>
                  <a:schemeClr val="accent3"/>
                </a:solidFill>
              </a:rPr>
              <a:t>WORLD AMR AWARENESS WEEK</a:t>
            </a:r>
            <a:endParaRPr lang="en-US" sz="1400" dirty="0"/>
          </a:p>
        </p:txBody>
      </p:sp>
      <p:sp>
        <p:nvSpPr>
          <p:cNvPr id="3" name="Text 0"/>
          <p:cNvSpPr/>
          <p:nvPr>
            <p:ph idx="101" type="title" hasCustomPrompt="1"/>
          </p:nvPr>
        </p:nvSpPr>
        <p:spPr>
          <a:xfrm>
            <a:off x="548640" y="1828800"/>
            <a:ext cx="7315200" cy="2103120"/>
          </a:xfrm>
          <a:prstGeom prst="rect">
            <a:avLst/>
          </a:prstGeom>
          <a:noFill/>
          <a:ln/>
        </p:spPr>
        <p:txBody>
          <a:bodyPr wrap="square" lIns="0" tIns="0" rIns="0" bIns="0" rtlCol="0" anchor="t"/>
          <a:lstStyle/>
          <a:p>
            <a:pPr algn="l" indent="0" marL="0">
              <a:buNone/>
            </a:pPr>
            <a:r>
              <a:rPr lang="en-US" sz="4000" b="1" dirty="0">
                <a:solidFill>
                  <a:schemeClr val="bg1"/>
                </a:solidFill>
              </a:rPr>
              <a:t>Gram-Negative Bacterial Resistance: An Urgent, Global Threat</a:t>
            </a:r>
            <a:endParaRPr lang="en-US" sz="4000" dirty="0"/>
          </a:p>
        </p:txBody>
      </p:sp>
      <p:sp>
        <p:nvSpPr>
          <p:cNvPr id="4" name="Text 0"/>
          <p:cNvSpPr/>
          <p:nvPr>
            <p:ph idx="102" type="body" hasCustomPrompt="1"/>
          </p:nvPr>
        </p:nvSpPr>
        <p:spPr>
          <a:xfrm>
            <a:off x="548640" y="4114800"/>
            <a:ext cx="7132320" cy="1280160"/>
          </a:xfrm>
          <a:prstGeom prst="rect">
            <a:avLst/>
          </a:prstGeom>
          <a:noFill/>
          <a:ln/>
        </p:spPr>
        <p:txBody>
          <a:bodyPr wrap="square" lIns="0" tIns="0" rIns="0" bIns="0" rtlCol="0" anchor="t"/>
          <a:lstStyle/>
          <a:p>
            <a:pPr indent="0" marL="0">
              <a:buNone/>
            </a:pPr>
            <a:r>
              <a:rPr lang="en-US" sz="1800" dirty="0">
                <a:solidFill>
                  <a:schemeClr val="accent5"/>
                </a:solidFill>
              </a:rPr>
              <a:t>Drivers, mechanisms, treatment and the road ahead</a:t>
            </a:r>
            <a:endParaRPr lang="en-US" sz="1800" dirty="0"/>
          </a:p>
        </p:txBody>
      </p:sp>
      <p:sp>
        <p:nvSpPr>
          <p:cNvPr id="5" name="citation"/>
          <p:cNvSpPr txBox="1"/>
          <p:nvPr/>
        </p:nvSpPr>
        <p:spPr>
          <a:xfrm>
            <a:off x="548640" y="6035040"/>
            <a:ext cx="7772400" cy="365760"/>
          </a:xfrm>
          <a:prstGeom prst="rect">
            <a:avLst/>
          </a:prstGeom>
          <a:noFill/>
          <a:ln/>
        </p:spPr>
        <p:txBody>
          <a:bodyPr wrap="square" lIns="0" tIns="0" rIns="0" bIns="0" rtlCol="0" anchor="ctr"/>
          <a:lstStyle/>
          <a:p>
            <a:pPr indent="0" marL="0">
              <a:buNone/>
            </a:pPr>
            <a:r>
              <a:rPr lang="en-US" sz="1100" dirty="0">
                <a:solidFill>
                  <a:schemeClr val="accent5"/>
                </a:solidFill>
              </a:rPr>
              <a:t>Based on: Tamma PD. Gram-Negative Bacterial Resistance. N Engl J Med 2026;395:1728-43</a:t>
            </a:r>
            <a:endParaRPr lang="en-US" sz="1100" dirty="0"/>
          </a:p>
        </p:txBody>
      </p:sp>
      <p:sp>
        <p:nvSpPr>
          <p:cNvPr id="6" name="dish outer"/>
          <p:cNvSpPr/>
          <p:nvPr/>
        </p:nvSpPr>
        <p:spPr>
          <a:xfrm>
            <a:off x="8229600" y="1188720"/>
            <a:ext cx="4480560" cy="4480560"/>
          </a:xfrm>
          <a:prstGeom prst="ellipse">
            <a:avLst/>
          </a:prstGeom>
          <a:solidFill>
            <a:schemeClr val="accent4"/>
          </a:solidFill>
          <a:ln/>
        </p:spPr>
      </p:sp>
      <p:sp>
        <p:nvSpPr>
          <p:cNvPr id="7" name="dish inner"/>
          <p:cNvSpPr/>
          <p:nvPr/>
        </p:nvSpPr>
        <p:spPr>
          <a:xfrm>
            <a:off x="8732520" y="1691640"/>
            <a:ext cx="3474720" cy="3474720"/>
          </a:xfrm>
          <a:prstGeom prst="ellipse">
            <a:avLst/>
          </a:prstGeom>
          <a:solidFill>
            <a:schemeClr val="accent1"/>
          </a:solidFill>
          <a:ln/>
        </p:spPr>
      </p:sp>
      <p:pic>
        <p:nvPicPr>
          <p:cNvPr id="8" name="bacterium icon" descr="Bacterium icon">    </p:cNvPr>
          <p:cNvPicPr>
            <a:picLocks noChangeAspect="1"/>
          </p:cNvPicPr>
          <p:nvPr/>
        </p:nvPicPr>
        <p:blipFill>
          <a:blip r:embed="rId1"/>
          <a:stretch>
            <a:fillRect/>
          </a:stretch>
        </p:blipFill>
        <p:spPr>
          <a:xfrm>
            <a:off x="9555480" y="2514600"/>
            <a:ext cx="1828800" cy="1828800"/>
          </a:xfrm>
          <a:prstGeom prst="rect">
            <a:avLst/>
          </a:prstGeom>
        </p:spPr>
      </p:pic>
      <p:sp>
        <p:nvSpPr>
          <p:cNvPr id="9" name="alert dot"/>
          <p:cNvSpPr/>
          <p:nvPr/>
        </p:nvSpPr>
        <p:spPr>
          <a:xfrm>
            <a:off x="10972800" y="1463040"/>
            <a:ext cx="822960" cy="822960"/>
          </a:xfrm>
          <a:prstGeom prst="ellipse">
            <a:avLst/>
          </a:prstGeom>
          <a:solidFill>
            <a:schemeClr val="accent2"/>
          </a:solidFill>
          <a:ln/>
        </p:spPr>
      </p:sp>
      <p:pic>
        <p:nvPicPr>
          <p:cNvPr id="10" name="alert icon" descr="Alert">    </p:cNvPr>
          <p:cNvPicPr>
            <a:picLocks noChangeAspect="1"/>
          </p:cNvPicPr>
          <p:nvPr/>
        </p:nvPicPr>
        <p:blipFill>
          <a:blip r:embed="rId2"/>
          <a:stretch>
            <a:fillRect/>
          </a:stretch>
        </p:blipFill>
        <p:spPr>
          <a:xfrm>
            <a:off x="11201400" y="1691640"/>
            <a:ext cx="365760"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200" b="1" spc="300" kern="0" dirty="0">
                <a:solidFill>
                  <a:schemeClr val="accent1"/>
                </a:solidFill>
              </a:rPr>
              <a:t>THE SCALE OF THE PROBLEM</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Antimicrobial resistance is already a leading killer</a:t>
            </a:r>
            <a:endParaRPr lang="en-US" sz="3200" dirty="0"/>
          </a:p>
        </p:txBody>
      </p:sp>
      <p:sp>
        <p:nvSpPr>
          <p:cNvPr id="4" name="stat card 1"/>
          <p:cNvSpPr/>
          <p:nvPr/>
        </p:nvSpPr>
        <p:spPr>
          <a:xfrm>
            <a:off x="548640" y="1783080"/>
            <a:ext cx="3429000" cy="2743200"/>
          </a:xfrm>
          <a:prstGeom prst="roundRect">
            <a:avLst>
              <a:gd name="adj" fmla="val 2667"/>
            </a:avLst>
          </a:prstGeom>
          <a:solidFill>
            <a:schemeClr val="bg2"/>
          </a:solidFill>
          <a:ln/>
        </p:spPr>
      </p:sp>
      <p:sp>
        <p:nvSpPr>
          <p:cNvPr id="5" name="stat 1"/>
          <p:cNvSpPr txBox="1"/>
          <p:nvPr/>
        </p:nvSpPr>
        <p:spPr>
          <a:xfrm>
            <a:off x="822960" y="2057400"/>
            <a:ext cx="2880360" cy="1005840"/>
          </a:xfrm>
          <a:prstGeom prst="rect">
            <a:avLst/>
          </a:prstGeom>
          <a:noFill/>
          <a:ln/>
        </p:spPr>
        <p:txBody>
          <a:bodyPr wrap="square" lIns="0" tIns="0" rIns="0" bIns="0" rtlCol="0" anchor="ctr"/>
          <a:lstStyle/>
          <a:p>
            <a:pPr indent="0" marL="0">
              <a:buNone/>
            </a:pPr>
            <a:r>
              <a:rPr lang="en-US" sz="6000" b="1" dirty="0">
                <a:solidFill>
                  <a:schemeClr val="accent2"/>
                </a:solidFill>
                <a:latin typeface="Cambria" pitchFamily="34" charset="0"/>
                <a:ea typeface="Cambria" pitchFamily="34" charset="-122"/>
                <a:cs typeface="Cambria" pitchFamily="34" charset="-120"/>
              </a:rPr>
              <a:t>1.27M</a:t>
            </a:r>
            <a:endParaRPr lang="en-US" sz="6000" dirty="0"/>
          </a:p>
        </p:txBody>
      </p:sp>
      <p:sp>
        <p:nvSpPr>
          <p:cNvPr id="6" name="stat label 1"/>
          <p:cNvSpPr txBox="1"/>
          <p:nvPr/>
        </p:nvSpPr>
        <p:spPr>
          <a:xfrm>
            <a:off x="822960" y="3154680"/>
            <a:ext cx="2880360" cy="1234440"/>
          </a:xfrm>
          <a:prstGeom prst="rect">
            <a:avLst/>
          </a:prstGeom>
          <a:noFill/>
          <a:ln/>
        </p:spPr>
        <p:txBody>
          <a:bodyPr wrap="square" lIns="0" tIns="0" rIns="0" bIns="0" rtlCol="0" anchor="t"/>
          <a:lstStyle/>
          <a:p>
            <a:pPr indent="0" marL="0">
              <a:buNone/>
            </a:pPr>
            <a:r>
              <a:rPr lang="en-US" sz="1500" dirty="0">
                <a:solidFill>
                  <a:schemeClr val="tx1"/>
                </a:solidFill>
              </a:rPr>
              <a:t>deaths worldwide in 2019 caused by antimicrobial-resistant infections, driven largely by gram-negative species</a:t>
            </a:r>
            <a:endParaRPr lang="en-US" sz="1500" dirty="0"/>
          </a:p>
        </p:txBody>
      </p:sp>
      <p:sp>
        <p:nvSpPr>
          <p:cNvPr id="7" name="stat card 2"/>
          <p:cNvSpPr/>
          <p:nvPr/>
        </p:nvSpPr>
        <p:spPr>
          <a:xfrm>
            <a:off x="4343400" y="1783080"/>
            <a:ext cx="3429000" cy="2743200"/>
          </a:xfrm>
          <a:prstGeom prst="roundRect">
            <a:avLst>
              <a:gd name="adj" fmla="val 2667"/>
            </a:avLst>
          </a:prstGeom>
          <a:solidFill>
            <a:schemeClr val="bg2"/>
          </a:solidFill>
          <a:ln/>
        </p:spPr>
      </p:sp>
      <p:sp>
        <p:nvSpPr>
          <p:cNvPr id="8" name="stat 2"/>
          <p:cNvSpPr txBox="1"/>
          <p:nvPr/>
        </p:nvSpPr>
        <p:spPr>
          <a:xfrm>
            <a:off x="4617720" y="2057400"/>
            <a:ext cx="2880360" cy="100584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&gt;70%</a:t>
            </a:r>
            <a:endParaRPr lang="en-US" sz="6000" dirty="0"/>
          </a:p>
        </p:txBody>
      </p:sp>
      <p:sp>
        <p:nvSpPr>
          <p:cNvPr id="9" name="stat label 2"/>
          <p:cNvSpPr txBox="1"/>
          <p:nvPr/>
        </p:nvSpPr>
        <p:spPr>
          <a:xfrm>
            <a:off x="4617720" y="3154680"/>
            <a:ext cx="2880360" cy="1234440"/>
          </a:xfrm>
          <a:prstGeom prst="rect">
            <a:avLst/>
          </a:prstGeom>
          <a:noFill/>
          <a:ln/>
        </p:spPr>
        <p:txBody>
          <a:bodyPr wrap="square" lIns="0" tIns="0" rIns="0" bIns="0" rtlCol="0" anchor="t"/>
          <a:lstStyle/>
          <a:p>
            <a:pPr indent="0" marL="0">
              <a:buNone/>
            </a:pPr>
            <a:r>
              <a:rPr lang="en-US" sz="1500" dirty="0">
                <a:solidFill>
                  <a:schemeClr val="tx1"/>
                </a:solidFill>
              </a:rPr>
              <a:t>projected increase in attributable mortality by 2050, approaching current global cancer mortality</a:t>
            </a:r>
            <a:endParaRPr lang="en-US" sz="1500" dirty="0"/>
          </a:p>
        </p:txBody>
      </p:sp>
      <p:sp>
        <p:nvSpPr>
          <p:cNvPr id="10" name="stat card 3"/>
          <p:cNvSpPr/>
          <p:nvPr/>
        </p:nvSpPr>
        <p:spPr>
          <a:xfrm>
            <a:off x="8138160" y="1783080"/>
            <a:ext cx="3429000" cy="2743200"/>
          </a:xfrm>
          <a:prstGeom prst="roundRect">
            <a:avLst>
              <a:gd name="adj" fmla="val 2667"/>
            </a:avLst>
          </a:prstGeom>
          <a:solidFill>
            <a:schemeClr val="bg2"/>
          </a:solidFill>
          <a:ln/>
        </p:spPr>
      </p:sp>
      <p:sp>
        <p:nvSpPr>
          <p:cNvPr id="11" name="stat 3"/>
          <p:cNvSpPr txBox="1"/>
          <p:nvPr/>
        </p:nvSpPr>
        <p:spPr>
          <a:xfrm>
            <a:off x="8412480" y="2057400"/>
            <a:ext cx="2880360" cy="1005840"/>
          </a:xfrm>
          <a:prstGeom prst="rect">
            <a:avLst/>
          </a:prstGeom>
          <a:noFill/>
          <a:ln/>
        </p:spPr>
        <p:txBody>
          <a:bodyPr wrap="square" lIns="0" tIns="0" rIns="0" bIns="0" rtlCol="0" anchor="ctr"/>
          <a:lstStyle/>
          <a:p>
            <a:pPr indent="0" marL="0">
              <a:buNone/>
            </a:pPr>
            <a:r>
              <a:rPr lang="en-US" sz="6000" b="1" dirty="0">
                <a:solidFill>
                  <a:schemeClr val="accent4"/>
                </a:solidFill>
                <a:latin typeface="Cambria" pitchFamily="34" charset="0"/>
                <a:ea typeface="Cambria" pitchFamily="34" charset="-122"/>
                <a:cs typeface="Cambria" pitchFamily="34" charset="-120"/>
              </a:rPr>
              <a:t>ICU</a:t>
            </a:r>
            <a:endParaRPr lang="en-US" sz="6000" dirty="0"/>
          </a:p>
        </p:txBody>
      </p:sp>
      <p:sp>
        <p:nvSpPr>
          <p:cNvPr id="12" name="stat label 3"/>
          <p:cNvSpPr txBox="1"/>
          <p:nvPr/>
        </p:nvSpPr>
        <p:spPr>
          <a:xfrm>
            <a:off x="8412480" y="3154680"/>
            <a:ext cx="2880360" cy="1234440"/>
          </a:xfrm>
          <a:prstGeom prst="rect">
            <a:avLst/>
          </a:prstGeom>
          <a:noFill/>
          <a:ln/>
        </p:spPr>
        <p:txBody>
          <a:bodyPr wrap="square" lIns="0" tIns="0" rIns="0" bIns="0" rtlCol="0" anchor="t"/>
          <a:lstStyle/>
          <a:p>
            <a:pPr indent="0" marL="0">
              <a:buNone/>
            </a:pPr>
            <a:r>
              <a:rPr lang="en-US" sz="1500" dirty="0">
                <a:solidFill>
                  <a:schemeClr val="tx1"/>
                </a:solidFill>
              </a:rPr>
              <a:t>intensive care units and skilled nursing facilities carry the greatest burden: long stays, frequent antibiotics, colonization</a:t>
            </a:r>
            <a:endParaRPr lang="en-US" sz="1500" dirty="0"/>
          </a:p>
        </p:txBody>
      </p:sp>
      <p:sp>
        <p:nvSpPr>
          <p:cNvPr id="13" name="access banner"/>
          <p:cNvSpPr/>
          <p:nvPr/>
        </p:nvSpPr>
        <p:spPr>
          <a:xfrm>
            <a:off x="548640" y="4892040"/>
            <a:ext cx="11094415" cy="1051560"/>
          </a:xfrm>
          <a:prstGeom prst="roundRect">
            <a:avLst>
              <a:gd name="adj" fmla="val 6957"/>
            </a:avLst>
          </a:prstGeom>
          <a:solidFill>
            <a:schemeClr val="tx2"/>
          </a:solidFill>
          <a:ln/>
        </p:spPr>
      </p:sp>
      <p:sp>
        <p:nvSpPr>
          <p:cNvPr id="14" name="globe circle"/>
          <p:cNvSpPr/>
          <p:nvPr/>
        </p:nvSpPr>
        <p:spPr>
          <a:xfrm>
            <a:off x="777240" y="5029200"/>
            <a:ext cx="777240" cy="777240"/>
          </a:xfrm>
          <a:prstGeom prst="ellipse">
            <a:avLst/>
          </a:prstGeom>
          <a:solidFill>
            <a:schemeClr val="accent3"/>
          </a:solidFill>
          <a:ln/>
        </p:spPr>
      </p:sp>
      <p:pic>
        <p:nvPicPr>
          <p:cNvPr id="15" name="globe icon" descr="globe">    </p:cNvPr>
          <p:cNvPicPr>
            <a:picLocks noChangeAspect="1"/>
          </p:cNvPicPr>
          <p:nvPr/>
        </p:nvPicPr>
        <p:blipFill>
          <a:blip r:embed="rId1"/>
          <a:stretch>
            <a:fillRect/>
          </a:stretch>
        </p:blipFill>
        <p:spPr>
          <a:xfrm>
            <a:off x="971550" y="5223510"/>
            <a:ext cx="388620" cy="388620"/>
          </a:xfrm>
          <a:prstGeom prst="rect">
            <a:avLst/>
          </a:prstGeom>
        </p:spPr>
      </p:pic>
      <p:sp>
        <p:nvSpPr>
          <p:cNvPr id="16" name="access text"/>
          <p:cNvSpPr txBox="1"/>
          <p:nvPr/>
        </p:nvSpPr>
        <p:spPr>
          <a:xfrm>
            <a:off x="1783080" y="4983480"/>
            <a:ext cx="9631375" cy="868680"/>
          </a:xfrm>
          <a:prstGeom prst="rect">
            <a:avLst/>
          </a:prstGeom>
          <a:noFill/>
          <a:ln/>
        </p:spPr>
        <p:txBody>
          <a:bodyPr wrap="square" lIns="0" tIns="0" rIns="0" bIns="0" rtlCol="0" anchor="ctr"/>
          <a:lstStyle/>
          <a:p>
            <a:pPr indent="0" marL="0">
              <a:buNone/>
            </a:pPr>
            <a:r>
              <a:rPr lang="en-US" sz="1600" b="1" dirty="0">
                <a:solidFill>
                  <a:schemeClr val="accent3"/>
                </a:solidFill>
              </a:rPr>
              <a:t>New agents exist, but access is limited: </a:t>
            </a:r>
            <a:pPr indent="0" marL="0">
              <a:buNone/>
            </a:pPr>
            <a:r>
              <a:rPr lang="en-US" sz="1600" dirty="0">
                <a:solidFill>
                  <a:schemeClr val="bg1"/>
                </a:solidFill>
              </a:rPr>
              <a:t>especially in low- and middle-income countries, which bear a disproportionate share of AMR deaths, and in rural regions of high-income nations.</a:t>
            </a:r>
            <a:endParaRPr lang="en-US" sz="16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200" b="1" spc="300" kern="0" dirty="0">
                <a:solidFill>
                  <a:schemeClr val="accent1"/>
                </a:solidFill>
              </a:rPr>
              <a:t>DEFINING THE PROBLEM</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Why "resistance" is hard to define</a:t>
            </a:r>
            <a:endParaRPr lang="en-US" sz="3200" dirty="0"/>
          </a:p>
        </p:txBody>
      </p:sp>
      <p:sp>
        <p:nvSpPr>
          <p:cNvPr id="4" name="def icon 1 circle"/>
          <p:cNvSpPr/>
          <p:nvPr/>
        </p:nvSpPr>
        <p:spPr>
          <a:xfrm>
            <a:off x="548640" y="1691640"/>
            <a:ext cx="685800" cy="685800"/>
          </a:xfrm>
          <a:prstGeom prst="ellipse">
            <a:avLst/>
          </a:prstGeom>
          <a:solidFill>
            <a:schemeClr val="bg2"/>
          </a:solidFill>
          <a:ln/>
        </p:spPr>
      </p:sp>
      <p:pic>
        <p:nvPicPr>
          <p:cNvPr id="5" name="def icon 1 icon" descr="def icon 1">    </p:cNvPr>
          <p:cNvPicPr>
            <a:picLocks noChangeAspect="1"/>
          </p:cNvPicPr>
          <p:nvPr/>
        </p:nvPicPr>
        <p:blipFill>
          <a:blip r:embed="rId1"/>
          <a:stretch>
            <a:fillRect/>
          </a:stretch>
        </p:blipFill>
        <p:spPr>
          <a:xfrm>
            <a:off x="720090" y="1863090"/>
            <a:ext cx="342900" cy="342900"/>
          </a:xfrm>
          <a:prstGeom prst="rect">
            <a:avLst/>
          </a:prstGeom>
        </p:spPr>
      </p:pic>
      <p:sp>
        <p:nvSpPr>
          <p:cNvPr id="6" name="def text 1"/>
          <p:cNvSpPr txBox="1"/>
          <p:nvPr/>
        </p:nvSpPr>
        <p:spPr>
          <a:xfrm>
            <a:off x="1463040" y="1645920"/>
            <a:ext cx="5760720" cy="868680"/>
          </a:xfrm>
          <a:prstGeom prst="rect">
            <a:avLst/>
          </a:prstGeom>
          <a:noFill/>
          <a:ln/>
        </p:spPr>
        <p:txBody>
          <a:bodyPr wrap="square" lIns="0" tIns="0" rIns="0" bIns="0" rtlCol="0" anchor="t"/>
          <a:lstStyle/>
          <a:p>
            <a:pPr indent="0" marL="0">
              <a:buNone/>
            </a:pPr>
            <a:r>
              <a:rPr lang="en-US" sz="1700" b="1" dirty="0">
                <a:solidFill>
                  <a:schemeClr val="tx2"/>
                </a:solidFill>
              </a:rPr>
              <a:t>Mechanisms vary by species</a:t>
            </a:r>
            <a:endParaRPr lang="en-US" sz="1700" dirty="0"/>
          </a:p>
          <a:p>
            <a:pPr indent="0" marL="0">
              <a:buNone/>
            </a:pPr>
            <a:r>
              <a:rPr lang="en-US" sz="1500" dirty="0">
                <a:solidFill>
                  <a:schemeClr val="tx1"/>
                </a:solidFill>
              </a:rPr>
              <a:t>ESBLs are common in E. coli but rare in P. aeruginosa.</a:t>
            </a:r>
            <a:endParaRPr lang="en-US" sz="1700" dirty="0"/>
          </a:p>
        </p:txBody>
      </p:sp>
      <p:sp>
        <p:nvSpPr>
          <p:cNvPr id="7" name="def icon 2 circle"/>
          <p:cNvSpPr/>
          <p:nvPr/>
        </p:nvSpPr>
        <p:spPr>
          <a:xfrm>
            <a:off x="548640" y="2715768"/>
            <a:ext cx="685800" cy="685800"/>
          </a:xfrm>
          <a:prstGeom prst="ellipse">
            <a:avLst/>
          </a:prstGeom>
          <a:solidFill>
            <a:schemeClr val="bg2"/>
          </a:solidFill>
          <a:ln/>
        </p:spPr>
      </p:sp>
      <p:pic>
        <p:nvPicPr>
          <p:cNvPr id="8" name="def icon 2 icon" descr="def icon 2">    </p:cNvPr>
          <p:cNvPicPr>
            <a:picLocks noChangeAspect="1"/>
          </p:cNvPicPr>
          <p:nvPr/>
        </p:nvPicPr>
        <p:blipFill>
          <a:blip r:embed="rId2"/>
          <a:stretch>
            <a:fillRect/>
          </a:stretch>
        </p:blipFill>
        <p:spPr>
          <a:xfrm>
            <a:off x="720090" y="2887218"/>
            <a:ext cx="342900" cy="342900"/>
          </a:xfrm>
          <a:prstGeom prst="rect">
            <a:avLst/>
          </a:prstGeom>
        </p:spPr>
      </p:pic>
      <p:sp>
        <p:nvSpPr>
          <p:cNvPr id="9" name="def text 2"/>
          <p:cNvSpPr txBox="1"/>
          <p:nvPr/>
        </p:nvSpPr>
        <p:spPr>
          <a:xfrm>
            <a:off x="1463040" y="2670048"/>
            <a:ext cx="5760720" cy="868680"/>
          </a:xfrm>
          <a:prstGeom prst="rect">
            <a:avLst/>
          </a:prstGeom>
          <a:noFill/>
          <a:ln/>
        </p:spPr>
        <p:txBody>
          <a:bodyPr wrap="square" lIns="0" tIns="0" rIns="0" bIns="0" rtlCol="0" anchor="t"/>
          <a:lstStyle/>
          <a:p>
            <a:pPr indent="0" marL="0">
              <a:buNone/>
            </a:pPr>
            <a:r>
              <a:rPr lang="en-US" sz="1700" b="1" dirty="0">
                <a:solidFill>
                  <a:schemeClr val="tx2"/>
                </a:solidFill>
              </a:rPr>
              <a:t>Intrinsic activity differs</a:t>
            </a:r>
            <a:endParaRPr lang="en-US" sz="1700" dirty="0"/>
          </a:p>
          <a:p>
            <a:pPr indent="0" marL="0">
              <a:buNone/>
            </a:pPr>
            <a:r>
              <a:rPr lang="en-US" sz="1500" dirty="0">
                <a:solidFill>
                  <a:schemeClr val="tx1"/>
                </a:solidFill>
              </a:rPr>
              <a:t>Wild-type E. coli is susceptible to ceftriaxone; P. aeruginosa is not.</a:t>
            </a:r>
            <a:endParaRPr lang="en-US" sz="1700" dirty="0"/>
          </a:p>
        </p:txBody>
      </p:sp>
      <p:sp>
        <p:nvSpPr>
          <p:cNvPr id="10" name="def icon 3 circle"/>
          <p:cNvSpPr/>
          <p:nvPr/>
        </p:nvSpPr>
        <p:spPr>
          <a:xfrm>
            <a:off x="548640" y="3739896"/>
            <a:ext cx="685800" cy="685800"/>
          </a:xfrm>
          <a:prstGeom prst="ellipse">
            <a:avLst/>
          </a:prstGeom>
          <a:solidFill>
            <a:schemeClr val="bg2"/>
          </a:solidFill>
          <a:ln/>
        </p:spPr>
      </p:sp>
      <p:pic>
        <p:nvPicPr>
          <p:cNvPr id="11" name="def icon 3 icon" descr="def icon 3">    </p:cNvPr>
          <p:cNvPicPr>
            <a:picLocks noChangeAspect="1"/>
          </p:cNvPicPr>
          <p:nvPr/>
        </p:nvPicPr>
        <p:blipFill>
          <a:blip r:embed="rId3"/>
          <a:stretch>
            <a:fillRect/>
          </a:stretch>
        </p:blipFill>
        <p:spPr>
          <a:xfrm>
            <a:off x="720090" y="3911346"/>
            <a:ext cx="342900" cy="342900"/>
          </a:xfrm>
          <a:prstGeom prst="rect">
            <a:avLst/>
          </a:prstGeom>
        </p:spPr>
      </p:pic>
      <p:sp>
        <p:nvSpPr>
          <p:cNvPr id="12" name="def text 3"/>
          <p:cNvSpPr txBox="1"/>
          <p:nvPr/>
        </p:nvSpPr>
        <p:spPr>
          <a:xfrm>
            <a:off x="1463040" y="3694176"/>
            <a:ext cx="5760720" cy="868680"/>
          </a:xfrm>
          <a:prstGeom prst="rect">
            <a:avLst/>
          </a:prstGeom>
          <a:noFill/>
          <a:ln/>
        </p:spPr>
        <p:txBody>
          <a:bodyPr wrap="square" lIns="0" tIns="0" rIns="0" bIns="0" rtlCol="0" anchor="t"/>
          <a:lstStyle/>
          <a:p>
            <a:pPr indent="0" marL="0">
              <a:buNone/>
            </a:pPr>
            <a:r>
              <a:rPr lang="en-US" sz="1700" b="1" dirty="0">
                <a:solidFill>
                  <a:schemeClr val="tx2"/>
                </a:solidFill>
              </a:rPr>
              <a:t>Breakpoints differ</a:t>
            </a:r>
            <a:endParaRPr lang="en-US" sz="1700" dirty="0"/>
          </a:p>
          <a:p>
            <a:pPr indent="0" marL="0">
              <a:buNone/>
            </a:pPr>
            <a:r>
              <a:rPr lang="en-US" sz="1500" dirty="0">
                <a:solidFill>
                  <a:schemeClr val="tx1"/>
                </a:solidFill>
              </a:rPr>
              <a:t>Meropenem: E. coli ≤1 µg/mL vs. P. aeruginosa ≤2 µg/mL.</a:t>
            </a:r>
            <a:endParaRPr lang="en-US" sz="1700" dirty="0"/>
          </a:p>
        </p:txBody>
      </p:sp>
      <p:sp>
        <p:nvSpPr>
          <p:cNvPr id="13" name="def icon 4 circle"/>
          <p:cNvSpPr/>
          <p:nvPr/>
        </p:nvSpPr>
        <p:spPr>
          <a:xfrm>
            <a:off x="548640" y="4764024"/>
            <a:ext cx="685800" cy="685800"/>
          </a:xfrm>
          <a:prstGeom prst="ellipse">
            <a:avLst/>
          </a:prstGeom>
          <a:solidFill>
            <a:schemeClr val="bg2"/>
          </a:solidFill>
          <a:ln/>
        </p:spPr>
      </p:sp>
      <p:pic>
        <p:nvPicPr>
          <p:cNvPr id="14" name="def icon 4 icon" descr="def icon 4">    </p:cNvPr>
          <p:cNvPicPr>
            <a:picLocks noChangeAspect="1"/>
          </p:cNvPicPr>
          <p:nvPr/>
        </p:nvPicPr>
        <p:blipFill>
          <a:blip r:embed="rId4"/>
          <a:stretch>
            <a:fillRect/>
          </a:stretch>
        </p:blipFill>
        <p:spPr>
          <a:xfrm>
            <a:off x="720090" y="4935474"/>
            <a:ext cx="342900" cy="342900"/>
          </a:xfrm>
          <a:prstGeom prst="rect">
            <a:avLst/>
          </a:prstGeom>
        </p:spPr>
      </p:pic>
      <p:sp>
        <p:nvSpPr>
          <p:cNvPr id="15" name="def text 4"/>
          <p:cNvSpPr txBox="1"/>
          <p:nvPr/>
        </p:nvSpPr>
        <p:spPr>
          <a:xfrm>
            <a:off x="1463040" y="4718304"/>
            <a:ext cx="5760720" cy="868680"/>
          </a:xfrm>
          <a:prstGeom prst="rect">
            <a:avLst/>
          </a:prstGeom>
          <a:noFill/>
          <a:ln/>
        </p:spPr>
        <p:txBody>
          <a:bodyPr wrap="square" lIns="0" tIns="0" rIns="0" bIns="0" rtlCol="0" anchor="t"/>
          <a:lstStyle/>
          <a:p>
            <a:pPr indent="0" marL="0">
              <a:buNone/>
            </a:pPr>
            <a:r>
              <a:rPr lang="en-US" sz="1700" b="1" dirty="0">
                <a:solidFill>
                  <a:schemeClr val="tx2"/>
                </a:solidFill>
              </a:rPr>
              <a:t>"Multidrug resistant" falls short</a:t>
            </a:r>
            <a:endParaRPr lang="en-US" sz="1700" dirty="0"/>
          </a:p>
          <a:p>
            <a:pPr indent="0" marL="0">
              <a:buNone/>
            </a:pPr>
            <a:r>
              <a:rPr lang="en-US" sz="1500" dirty="0">
                <a:solidFill>
                  <a:schemeClr val="tx1"/>
                </a:solidFill>
              </a:rPr>
              <a:t>~Half of meropenem-resistant P. aeruginosa remain susceptible to cefepime or piperacillin–tazobactam.</a:t>
            </a:r>
            <a:endParaRPr lang="en-US" sz="1700" dirty="0"/>
          </a:p>
        </p:txBody>
      </p:sp>
      <p:sp>
        <p:nvSpPr>
          <p:cNvPr id="16" name="DTR card"/>
          <p:cNvSpPr/>
          <p:nvPr/>
        </p:nvSpPr>
        <p:spPr>
          <a:xfrm>
            <a:off x="7589520" y="1691640"/>
            <a:ext cx="4053535" cy="4160520"/>
          </a:xfrm>
          <a:prstGeom prst="roundRect">
            <a:avLst>
              <a:gd name="adj" fmla="val 1805"/>
            </a:avLst>
          </a:prstGeom>
          <a:solidFill>
            <a:schemeClr val="tx2"/>
          </a:solidFill>
          <a:ln/>
          <a:effectLst>
            <a:outerShdw sx="100000" sy="100000" kx="0" ky="0" algn="bl" rotWithShape="0" blurRad="101600" dist="25400" dir="5400000">
              <a:srgbClr val="000000">
                <a:alpha val="12000"/>
              </a:srgbClr>
            </a:outerShdw>
          </a:effectLst>
        </p:spPr>
      </p:sp>
      <p:sp>
        <p:nvSpPr>
          <p:cNvPr id="17" name="DTR kicker"/>
          <p:cNvSpPr txBox="1"/>
          <p:nvPr/>
        </p:nvSpPr>
        <p:spPr>
          <a:xfrm>
            <a:off x="7909560" y="1920240"/>
            <a:ext cx="3413455" cy="365760"/>
          </a:xfrm>
          <a:prstGeom prst="rect">
            <a:avLst/>
          </a:prstGeom>
          <a:noFill/>
          <a:ln/>
        </p:spPr>
        <p:txBody>
          <a:bodyPr wrap="square" lIns="0" tIns="0" rIns="0" bIns="0" rtlCol="0" anchor="ctr"/>
          <a:lstStyle/>
          <a:p>
            <a:pPr indent="0" marL="0">
              <a:buNone/>
            </a:pPr>
            <a:r>
              <a:rPr lang="en-US" sz="1400" b="1" dirty="0">
                <a:solidFill>
                  <a:schemeClr val="accent3"/>
                </a:solidFill>
              </a:rPr>
              <a:t>A more useful label</a:t>
            </a:r>
            <a:endParaRPr lang="en-US" sz="1400" dirty="0"/>
          </a:p>
        </p:txBody>
      </p:sp>
      <p:sp>
        <p:nvSpPr>
          <p:cNvPr id="18" name="DTR title"/>
          <p:cNvSpPr txBox="1"/>
          <p:nvPr/>
        </p:nvSpPr>
        <p:spPr>
          <a:xfrm>
            <a:off x="7909560" y="2286000"/>
            <a:ext cx="3413455" cy="86868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Difficult-to-Treat Resistance (DTR)</a:t>
            </a:r>
            <a:endParaRPr lang="en-US" sz="2400" dirty="0"/>
          </a:p>
        </p:txBody>
      </p:sp>
      <p:sp>
        <p:nvSpPr>
          <p:cNvPr id="19" name="DTR body"/>
          <p:cNvSpPr txBox="1"/>
          <p:nvPr/>
        </p:nvSpPr>
        <p:spPr>
          <a:xfrm>
            <a:off x="7909560" y="3291840"/>
            <a:ext cx="3413455" cy="1371600"/>
          </a:xfrm>
          <a:prstGeom prst="rect">
            <a:avLst/>
          </a:prstGeom>
          <a:noFill/>
          <a:ln/>
        </p:spPr>
        <p:txBody>
          <a:bodyPr wrap="square" lIns="0" tIns="0" rIns="0" bIns="0" rtlCol="0" anchor="t"/>
          <a:lstStyle/>
          <a:p>
            <a:pPr indent="0" marL="0">
              <a:buNone/>
            </a:pPr>
            <a:r>
              <a:rPr lang="en-US" sz="1600" dirty="0">
                <a:solidFill>
                  <a:schemeClr val="bg1"/>
                </a:solidFill>
              </a:rPr>
              <a:t>Resistant to </a:t>
            </a:r>
            <a:pPr indent="0" marL="0">
              <a:buNone/>
            </a:pPr>
            <a:r>
              <a:rPr lang="en-US" sz="1600" b="1" dirty="0">
                <a:solidFill>
                  <a:schemeClr val="accent3"/>
                </a:solidFill>
              </a:rPr>
              <a:t>all traditional β-lactams</a:t>
            </a:r>
            <a:pPr indent="0" marL="0">
              <a:buNone/>
            </a:pPr>
            <a:r>
              <a:rPr lang="en-US" sz="1600" dirty="0">
                <a:solidFill>
                  <a:schemeClr val="bg1"/>
                </a:solidFill>
              </a:rPr>
              <a:t> (including carbapenems) </a:t>
            </a:r>
            <a:pPr indent="0" marL="0">
              <a:buNone/>
            </a:pPr>
            <a:r>
              <a:rPr lang="en-US" sz="1600" b="1" dirty="0">
                <a:solidFill>
                  <a:schemeClr val="accent3"/>
                </a:solidFill>
              </a:rPr>
              <a:t>and fluoroquinolones</a:t>
            </a:r>
            <a:pPr indent="0" marL="0">
              <a:buNone/>
            </a:pPr>
            <a:r>
              <a:rPr lang="en-US" sz="1600" dirty="0">
                <a:solidFill>
                  <a:schemeClr val="bg1"/>
                </a:solidFill>
              </a:rPr>
              <a:t>, leaving only the newest agents as reliable options.</a:t>
            </a:r>
            <a:endParaRPr lang="en-US" sz="1600" dirty="0"/>
          </a:p>
        </p:txBody>
      </p:sp>
      <p:sp>
        <p:nvSpPr>
          <p:cNvPr id="20" name="DTR note"/>
          <p:cNvSpPr txBox="1"/>
          <p:nvPr/>
        </p:nvSpPr>
        <p:spPr>
          <a:xfrm>
            <a:off x="7909560" y="4800600"/>
            <a:ext cx="3413455" cy="822960"/>
          </a:xfrm>
          <a:prstGeom prst="rect">
            <a:avLst/>
          </a:prstGeom>
          <a:noFill/>
          <a:ln/>
        </p:spPr>
        <p:txBody>
          <a:bodyPr wrap="square" lIns="0" tIns="0" rIns="0" bIns="0" rtlCol="0" anchor="t"/>
          <a:lstStyle/>
          <a:p>
            <a:pPr indent="0" marL="0">
              <a:buNone/>
            </a:pPr>
            <a:r>
              <a:rPr lang="en-US" sz="1300" i="1" dirty="0">
                <a:solidFill>
                  <a:schemeClr val="accent5"/>
                </a:solidFill>
              </a:rPr>
              <a:t>Especially useful for P. aeruginosa, with its unpredictable resistance patterns.</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200" b="1" spc="300" kern="0" dirty="0">
                <a:solidFill>
                  <a:schemeClr val="accent1"/>
                </a:solidFill>
              </a:rPr>
              <a:t>DRIVERS OF DISSEMINATION</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Humans, animals and the environment all spread resistance</a:t>
            </a:r>
            <a:endParaRPr lang="en-US" sz="3200" dirty="0"/>
          </a:p>
        </p:txBody>
      </p:sp>
      <p:sp>
        <p:nvSpPr>
          <p:cNvPr id="4" name="driver card 1"/>
          <p:cNvSpPr/>
          <p:nvPr/>
        </p:nvSpPr>
        <p:spPr>
          <a:xfrm>
            <a:off x="548640" y="1691640"/>
            <a:ext cx="2606040" cy="2423160"/>
          </a:xfrm>
          <a:prstGeom prst="roundRect">
            <a:avLst>
              <a:gd name="adj" fmla="val 3019"/>
            </a:avLst>
          </a:prstGeom>
          <a:solidFill>
            <a:schemeClr val="bg2"/>
          </a:solidFill>
          <a:ln/>
        </p:spPr>
      </p:sp>
      <p:sp>
        <p:nvSpPr>
          <p:cNvPr id="5" name="driver 1 circle"/>
          <p:cNvSpPr/>
          <p:nvPr/>
        </p:nvSpPr>
        <p:spPr>
          <a:xfrm>
            <a:off x="822960" y="1965960"/>
            <a:ext cx="731520" cy="731520"/>
          </a:xfrm>
          <a:prstGeom prst="ellipse">
            <a:avLst/>
          </a:prstGeom>
          <a:solidFill>
            <a:schemeClr val="accent1"/>
          </a:solidFill>
          <a:ln/>
        </p:spPr>
      </p:sp>
      <p:pic>
        <p:nvPicPr>
          <p:cNvPr id="6" name="driver 1 icon" descr="driver 1">    </p:cNvPr>
          <p:cNvPicPr>
            <a:picLocks noChangeAspect="1"/>
          </p:cNvPicPr>
          <p:nvPr/>
        </p:nvPicPr>
        <p:blipFill>
          <a:blip r:embed="rId1"/>
          <a:stretch>
            <a:fillRect/>
          </a:stretch>
        </p:blipFill>
        <p:spPr>
          <a:xfrm>
            <a:off x="1005840" y="2148840"/>
            <a:ext cx="365760" cy="365760"/>
          </a:xfrm>
          <a:prstGeom prst="rect">
            <a:avLst/>
          </a:prstGeom>
        </p:spPr>
      </p:pic>
      <p:sp>
        <p:nvSpPr>
          <p:cNvPr id="7" name="driver head 1"/>
          <p:cNvSpPr txBox="1"/>
          <p:nvPr/>
        </p:nvSpPr>
        <p:spPr>
          <a:xfrm>
            <a:off x="822960" y="2788920"/>
            <a:ext cx="2057400" cy="365760"/>
          </a:xfrm>
          <a:prstGeom prst="rect">
            <a:avLst/>
          </a:prstGeom>
          <a:noFill/>
          <a:ln/>
        </p:spPr>
        <p:txBody>
          <a:bodyPr wrap="square" lIns="0" tIns="0" rIns="0" bIns="0" rtlCol="0" anchor="ctr"/>
          <a:lstStyle/>
          <a:p>
            <a:pPr indent="0" marL="0">
              <a:buNone/>
            </a:pPr>
            <a:r>
              <a:rPr lang="en-US" sz="1700" b="1" dirty="0">
                <a:solidFill>
                  <a:schemeClr val="tx2"/>
                </a:solidFill>
              </a:rPr>
              <a:t>Movement</a:t>
            </a:r>
            <a:endParaRPr lang="en-US" sz="1700" dirty="0"/>
          </a:p>
        </p:txBody>
      </p:sp>
      <p:sp>
        <p:nvSpPr>
          <p:cNvPr id="8" name="driver body 1"/>
          <p:cNvSpPr txBox="1"/>
          <p:nvPr/>
        </p:nvSpPr>
        <p:spPr>
          <a:xfrm>
            <a:off x="822960" y="3154680"/>
            <a:ext cx="2057400" cy="868680"/>
          </a:xfrm>
          <a:prstGeom prst="rect">
            <a:avLst/>
          </a:prstGeom>
          <a:noFill/>
          <a:ln/>
        </p:spPr>
        <p:txBody>
          <a:bodyPr wrap="square" lIns="0" tIns="0" rIns="0" bIns="0" rtlCol="0" anchor="t"/>
          <a:lstStyle/>
          <a:p>
            <a:pPr indent="0" marL="0">
              <a:buNone/>
            </a:pPr>
            <a:r>
              <a:rPr lang="en-US" sz="1400" dirty="0">
                <a:solidFill>
                  <a:schemeClr val="tx1"/>
                </a:solidFill>
              </a:rPr>
              <a:t>International travel and trade in people, animals and goods</a:t>
            </a:r>
            <a:endParaRPr lang="en-US" sz="1400" dirty="0"/>
          </a:p>
        </p:txBody>
      </p:sp>
      <p:sp>
        <p:nvSpPr>
          <p:cNvPr id="9" name="driver card 2"/>
          <p:cNvSpPr/>
          <p:nvPr/>
        </p:nvSpPr>
        <p:spPr>
          <a:xfrm>
            <a:off x="3337560" y="1691640"/>
            <a:ext cx="2606040" cy="2423160"/>
          </a:xfrm>
          <a:prstGeom prst="roundRect">
            <a:avLst>
              <a:gd name="adj" fmla="val 3019"/>
            </a:avLst>
          </a:prstGeom>
          <a:solidFill>
            <a:schemeClr val="bg2"/>
          </a:solidFill>
          <a:ln/>
        </p:spPr>
      </p:sp>
      <p:sp>
        <p:nvSpPr>
          <p:cNvPr id="10" name="driver 2 circle"/>
          <p:cNvSpPr/>
          <p:nvPr/>
        </p:nvSpPr>
        <p:spPr>
          <a:xfrm>
            <a:off x="3611880" y="1965960"/>
            <a:ext cx="731520" cy="731520"/>
          </a:xfrm>
          <a:prstGeom prst="ellipse">
            <a:avLst/>
          </a:prstGeom>
          <a:solidFill>
            <a:schemeClr val="accent1"/>
          </a:solidFill>
          <a:ln/>
        </p:spPr>
      </p:sp>
      <p:pic>
        <p:nvPicPr>
          <p:cNvPr id="11" name="driver 2 icon" descr="driver 2">    </p:cNvPr>
          <p:cNvPicPr>
            <a:picLocks noChangeAspect="1"/>
          </p:cNvPicPr>
          <p:nvPr/>
        </p:nvPicPr>
        <p:blipFill>
          <a:blip r:embed="rId2"/>
          <a:stretch>
            <a:fillRect/>
          </a:stretch>
        </p:blipFill>
        <p:spPr>
          <a:xfrm>
            <a:off x="3794760" y="2148840"/>
            <a:ext cx="365760" cy="365760"/>
          </a:xfrm>
          <a:prstGeom prst="rect">
            <a:avLst/>
          </a:prstGeom>
        </p:spPr>
      </p:pic>
      <p:sp>
        <p:nvSpPr>
          <p:cNvPr id="12" name="driver head 2"/>
          <p:cNvSpPr txBox="1"/>
          <p:nvPr/>
        </p:nvSpPr>
        <p:spPr>
          <a:xfrm>
            <a:off x="3611880" y="2788920"/>
            <a:ext cx="2057400" cy="365760"/>
          </a:xfrm>
          <a:prstGeom prst="rect">
            <a:avLst/>
          </a:prstGeom>
          <a:noFill/>
          <a:ln/>
        </p:spPr>
        <p:txBody>
          <a:bodyPr wrap="square" lIns="0" tIns="0" rIns="0" bIns="0" rtlCol="0" anchor="ctr"/>
          <a:lstStyle/>
          <a:p>
            <a:pPr indent="0" marL="0">
              <a:buNone/>
            </a:pPr>
            <a:r>
              <a:rPr lang="en-US" sz="1700" b="1" dirty="0">
                <a:solidFill>
                  <a:schemeClr val="tx2"/>
                </a:solidFill>
              </a:rPr>
              <a:t>Antibiotic misuse</a:t>
            </a:r>
            <a:endParaRPr lang="en-US" sz="1700" dirty="0"/>
          </a:p>
        </p:txBody>
      </p:sp>
      <p:sp>
        <p:nvSpPr>
          <p:cNvPr id="13" name="driver body 2"/>
          <p:cNvSpPr txBox="1"/>
          <p:nvPr/>
        </p:nvSpPr>
        <p:spPr>
          <a:xfrm>
            <a:off x="3611880" y="3154680"/>
            <a:ext cx="2057400" cy="868680"/>
          </a:xfrm>
          <a:prstGeom prst="rect">
            <a:avLst/>
          </a:prstGeom>
          <a:noFill/>
          <a:ln/>
        </p:spPr>
        <p:txBody>
          <a:bodyPr wrap="square" lIns="0" tIns="0" rIns="0" bIns="0" rtlCol="0" anchor="t"/>
          <a:lstStyle/>
          <a:p>
            <a:pPr indent="0" marL="0">
              <a:buNone/>
            </a:pPr>
            <a:r>
              <a:rPr lang="en-US" sz="1400" dirty="0">
                <a:solidFill>
                  <a:schemeClr val="tx1"/>
                </a:solidFill>
              </a:rPr>
              <a:t>Overuse in human medicine, agriculture and veterinary practice</a:t>
            </a:r>
            <a:endParaRPr lang="en-US" sz="1400" dirty="0"/>
          </a:p>
        </p:txBody>
      </p:sp>
      <p:sp>
        <p:nvSpPr>
          <p:cNvPr id="14" name="driver card 3"/>
          <p:cNvSpPr/>
          <p:nvPr/>
        </p:nvSpPr>
        <p:spPr>
          <a:xfrm>
            <a:off x="6126480" y="1691640"/>
            <a:ext cx="2606040" cy="2423160"/>
          </a:xfrm>
          <a:prstGeom prst="roundRect">
            <a:avLst>
              <a:gd name="adj" fmla="val 3019"/>
            </a:avLst>
          </a:prstGeom>
          <a:solidFill>
            <a:schemeClr val="bg2"/>
          </a:solidFill>
          <a:ln/>
        </p:spPr>
      </p:sp>
      <p:sp>
        <p:nvSpPr>
          <p:cNvPr id="15" name="driver 3 circle"/>
          <p:cNvSpPr/>
          <p:nvPr/>
        </p:nvSpPr>
        <p:spPr>
          <a:xfrm>
            <a:off x="6400800" y="1965960"/>
            <a:ext cx="731520" cy="731520"/>
          </a:xfrm>
          <a:prstGeom prst="ellipse">
            <a:avLst/>
          </a:prstGeom>
          <a:solidFill>
            <a:schemeClr val="accent1"/>
          </a:solidFill>
          <a:ln/>
        </p:spPr>
      </p:sp>
      <p:pic>
        <p:nvPicPr>
          <p:cNvPr id="16" name="driver 3 icon" descr="driver 3">    </p:cNvPr>
          <p:cNvPicPr>
            <a:picLocks noChangeAspect="1"/>
          </p:cNvPicPr>
          <p:nvPr/>
        </p:nvPicPr>
        <p:blipFill>
          <a:blip r:embed="rId3"/>
          <a:stretch>
            <a:fillRect/>
          </a:stretch>
        </p:blipFill>
        <p:spPr>
          <a:xfrm>
            <a:off x="6583680" y="2148840"/>
            <a:ext cx="365760" cy="365760"/>
          </a:xfrm>
          <a:prstGeom prst="rect">
            <a:avLst/>
          </a:prstGeom>
        </p:spPr>
      </p:pic>
      <p:sp>
        <p:nvSpPr>
          <p:cNvPr id="17" name="driver head 3"/>
          <p:cNvSpPr txBox="1"/>
          <p:nvPr/>
        </p:nvSpPr>
        <p:spPr>
          <a:xfrm>
            <a:off x="6400800" y="2788920"/>
            <a:ext cx="2057400" cy="365760"/>
          </a:xfrm>
          <a:prstGeom prst="rect">
            <a:avLst/>
          </a:prstGeom>
          <a:noFill/>
          <a:ln/>
        </p:spPr>
        <p:txBody>
          <a:bodyPr wrap="square" lIns="0" tIns="0" rIns="0" bIns="0" rtlCol="0" anchor="ctr"/>
          <a:lstStyle/>
          <a:p>
            <a:pPr indent="0" marL="0">
              <a:buNone/>
            </a:pPr>
            <a:r>
              <a:rPr lang="en-US" sz="1700" b="1" dirty="0">
                <a:solidFill>
                  <a:schemeClr val="tx2"/>
                </a:solidFill>
              </a:rPr>
              <a:t>Environment</a:t>
            </a:r>
            <a:endParaRPr lang="en-US" sz="1700" dirty="0"/>
          </a:p>
        </p:txBody>
      </p:sp>
      <p:sp>
        <p:nvSpPr>
          <p:cNvPr id="18" name="driver body 3"/>
          <p:cNvSpPr txBox="1"/>
          <p:nvPr/>
        </p:nvSpPr>
        <p:spPr>
          <a:xfrm>
            <a:off x="6400800" y="3154680"/>
            <a:ext cx="2057400" cy="868680"/>
          </a:xfrm>
          <a:prstGeom prst="rect">
            <a:avLst/>
          </a:prstGeom>
          <a:noFill/>
          <a:ln/>
        </p:spPr>
        <p:txBody>
          <a:bodyPr wrap="square" lIns="0" tIns="0" rIns="0" bIns="0" rtlCol="0" anchor="t"/>
          <a:lstStyle/>
          <a:p>
            <a:pPr indent="0" marL="0">
              <a:buNone/>
            </a:pPr>
            <a:r>
              <a:rPr lang="en-US" sz="1400" dirty="0">
                <a:solidFill>
                  <a:schemeClr val="tx1"/>
                </a:solidFill>
              </a:rPr>
              <a:t>Sink drains, wastewater and soil contaminated with resistant bacteria</a:t>
            </a:r>
            <a:endParaRPr lang="en-US" sz="1400" dirty="0"/>
          </a:p>
        </p:txBody>
      </p:sp>
      <p:sp>
        <p:nvSpPr>
          <p:cNvPr id="19" name="driver card 4"/>
          <p:cNvSpPr/>
          <p:nvPr/>
        </p:nvSpPr>
        <p:spPr>
          <a:xfrm>
            <a:off x="8915400" y="1691640"/>
            <a:ext cx="2606040" cy="2423160"/>
          </a:xfrm>
          <a:prstGeom prst="roundRect">
            <a:avLst>
              <a:gd name="adj" fmla="val 3019"/>
            </a:avLst>
          </a:prstGeom>
          <a:solidFill>
            <a:schemeClr val="bg2"/>
          </a:solidFill>
          <a:ln/>
        </p:spPr>
      </p:sp>
      <p:sp>
        <p:nvSpPr>
          <p:cNvPr id="20" name="driver 4 circle"/>
          <p:cNvSpPr/>
          <p:nvPr/>
        </p:nvSpPr>
        <p:spPr>
          <a:xfrm>
            <a:off x="9189720" y="1965960"/>
            <a:ext cx="731520" cy="731520"/>
          </a:xfrm>
          <a:prstGeom prst="ellipse">
            <a:avLst/>
          </a:prstGeom>
          <a:solidFill>
            <a:schemeClr val="accent1"/>
          </a:solidFill>
          <a:ln/>
        </p:spPr>
      </p:sp>
      <p:pic>
        <p:nvPicPr>
          <p:cNvPr id="21" name="driver 4 icon" descr="driver 4">    </p:cNvPr>
          <p:cNvPicPr>
            <a:picLocks noChangeAspect="1"/>
          </p:cNvPicPr>
          <p:nvPr/>
        </p:nvPicPr>
        <p:blipFill>
          <a:blip r:embed="rId4"/>
          <a:stretch>
            <a:fillRect/>
          </a:stretch>
        </p:blipFill>
        <p:spPr>
          <a:xfrm>
            <a:off x="9372600" y="2148840"/>
            <a:ext cx="365760" cy="365760"/>
          </a:xfrm>
          <a:prstGeom prst="rect">
            <a:avLst/>
          </a:prstGeom>
        </p:spPr>
      </p:pic>
      <p:sp>
        <p:nvSpPr>
          <p:cNvPr id="22" name="driver head 4"/>
          <p:cNvSpPr txBox="1"/>
          <p:nvPr/>
        </p:nvSpPr>
        <p:spPr>
          <a:xfrm>
            <a:off x="9189720" y="2788920"/>
            <a:ext cx="2057400" cy="365760"/>
          </a:xfrm>
          <a:prstGeom prst="rect">
            <a:avLst/>
          </a:prstGeom>
          <a:noFill/>
          <a:ln/>
        </p:spPr>
        <p:txBody>
          <a:bodyPr wrap="square" lIns="0" tIns="0" rIns="0" bIns="0" rtlCol="0" anchor="ctr"/>
          <a:lstStyle/>
          <a:p>
            <a:pPr indent="0" marL="0">
              <a:buNone/>
            </a:pPr>
            <a:r>
              <a:rPr lang="en-US" sz="1700" b="1" dirty="0">
                <a:solidFill>
                  <a:schemeClr val="tx2"/>
                </a:solidFill>
              </a:rPr>
              <a:t>Infection control</a:t>
            </a:r>
            <a:endParaRPr lang="en-US" sz="1700" dirty="0"/>
          </a:p>
        </p:txBody>
      </p:sp>
      <p:sp>
        <p:nvSpPr>
          <p:cNvPr id="23" name="driver body 4"/>
          <p:cNvSpPr txBox="1"/>
          <p:nvPr/>
        </p:nvSpPr>
        <p:spPr>
          <a:xfrm>
            <a:off x="9189720" y="3154680"/>
            <a:ext cx="2057400" cy="868680"/>
          </a:xfrm>
          <a:prstGeom prst="rect">
            <a:avLst/>
          </a:prstGeom>
          <a:noFill/>
          <a:ln/>
        </p:spPr>
        <p:txBody>
          <a:bodyPr wrap="square" lIns="0" tIns="0" rIns="0" bIns="0" rtlCol="0" anchor="t"/>
          <a:lstStyle/>
          <a:p>
            <a:pPr indent="0" marL="0">
              <a:buNone/>
            </a:pPr>
            <a:r>
              <a:rPr lang="en-US" sz="1400" dirty="0">
                <a:solidFill>
                  <a:schemeClr val="tx1"/>
                </a:solidFill>
              </a:rPr>
              <a:t>Inconsistent hand hygiene, poor cleaning of shared equipment, suboptimal isolation</a:t>
            </a:r>
            <a:endParaRPr lang="en-US" sz="1400" dirty="0"/>
          </a:p>
        </p:txBody>
      </p:sp>
      <p:sp>
        <p:nvSpPr>
          <p:cNvPr id="24" name="amplifier panel"/>
          <p:cNvSpPr/>
          <p:nvPr/>
        </p:nvSpPr>
        <p:spPr>
          <a:xfrm>
            <a:off x="548640" y="4343400"/>
            <a:ext cx="11094415" cy="1600200"/>
          </a:xfrm>
          <a:prstGeom prst="roundRect">
            <a:avLst>
              <a:gd name="adj" fmla="val 4571"/>
            </a:avLst>
          </a:prstGeom>
          <a:solidFill>
            <a:schemeClr val="tx2"/>
          </a:solidFill>
          <a:ln/>
        </p:spPr>
      </p:sp>
      <p:sp>
        <p:nvSpPr>
          <p:cNvPr id="25" name="plasmid circle"/>
          <p:cNvSpPr/>
          <p:nvPr/>
        </p:nvSpPr>
        <p:spPr>
          <a:xfrm>
            <a:off x="868680" y="4754880"/>
            <a:ext cx="777240" cy="777240"/>
          </a:xfrm>
          <a:prstGeom prst="ellipse">
            <a:avLst/>
          </a:prstGeom>
          <a:solidFill>
            <a:schemeClr val="accent2"/>
          </a:solidFill>
          <a:ln/>
        </p:spPr>
      </p:sp>
      <p:pic>
        <p:nvPicPr>
          <p:cNvPr id="26" name="plasmid icon" descr="plasmid">    </p:cNvPr>
          <p:cNvPicPr>
            <a:picLocks noChangeAspect="1"/>
          </p:cNvPicPr>
          <p:nvPr/>
        </p:nvPicPr>
        <p:blipFill>
          <a:blip r:embed="rId5"/>
          <a:stretch>
            <a:fillRect/>
          </a:stretch>
        </p:blipFill>
        <p:spPr>
          <a:xfrm>
            <a:off x="1062990" y="4949190"/>
            <a:ext cx="388620" cy="388620"/>
          </a:xfrm>
          <a:prstGeom prst="rect">
            <a:avLst/>
          </a:prstGeom>
        </p:spPr>
      </p:pic>
      <p:sp>
        <p:nvSpPr>
          <p:cNvPr id="27" name="amplifier text"/>
          <p:cNvSpPr txBox="1"/>
          <p:nvPr/>
        </p:nvSpPr>
        <p:spPr>
          <a:xfrm>
            <a:off x="1920240" y="4526280"/>
            <a:ext cx="9448495" cy="1234440"/>
          </a:xfrm>
          <a:prstGeom prst="rect">
            <a:avLst/>
          </a:prstGeom>
          <a:noFill/>
          <a:ln/>
        </p:spPr>
        <p:txBody>
          <a:bodyPr wrap="square" lIns="0" tIns="0" rIns="0" bIns="0" rtlCol="0" anchor="ctr"/>
          <a:lstStyle/>
          <a:p>
            <a:pPr indent="0" marL="0">
              <a:buNone/>
            </a:pPr>
            <a:r>
              <a:rPr lang="en-US" sz="1800" b="1" dirty="0">
                <a:solidFill>
                  <a:schemeClr val="accent3"/>
                </a:solidFill>
              </a:rPr>
              <a:t>The amplifier: mobile genetic elements</a:t>
            </a:r>
            <a:endParaRPr lang="en-US" sz="1800" dirty="0"/>
          </a:p>
          <a:p>
            <a:pPr indent="0" marL="0">
              <a:buNone/>
            </a:pPr>
            <a:r>
              <a:rPr lang="en-US" sz="1500" dirty="0">
                <a:solidFill>
                  <a:schemeClr val="bg1"/>
                </a:solidFill>
              </a:rPr>
              <a:t>Plasmids carrying multiple resistance genes pass between bacteria, so a susceptible organism can become multidrug-resistant in a single step. Over 60% of larger plasmids colonize multiple species.</a:t>
            </a:r>
            <a:endParaRPr lang="en-US" sz="18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200" b="1" spc="300" kern="0" dirty="0">
                <a:solidFill>
                  <a:schemeClr val="accent1"/>
                </a:solidFill>
              </a:rPr>
              <a:t>HOW BACTERIA FIGHT BACK</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Four primary pathways of resistance</a:t>
            </a:r>
            <a:endParaRPr lang="en-US" sz="3200" dirty="0"/>
          </a:p>
        </p:txBody>
      </p:sp>
      <p:sp>
        <p:nvSpPr>
          <p:cNvPr id="4" name="mechanism card 1"/>
          <p:cNvSpPr/>
          <p:nvPr/>
        </p:nvSpPr>
        <p:spPr>
          <a:xfrm>
            <a:off x="548640" y="1645920"/>
            <a:ext cx="5349240" cy="1783080"/>
          </a:xfrm>
          <a:prstGeom prst="roundRect">
            <a:avLst>
              <a:gd name="adj" fmla="val 4103"/>
            </a:avLst>
          </a:prstGeom>
          <a:solidFill>
            <a:schemeClr val="bg2"/>
          </a:solidFill>
          <a:ln/>
        </p:spPr>
      </p:sp>
      <p:sp>
        <p:nvSpPr>
          <p:cNvPr id="5" name="mechanism 1 circle"/>
          <p:cNvSpPr/>
          <p:nvPr/>
        </p:nvSpPr>
        <p:spPr>
          <a:xfrm>
            <a:off x="822960" y="1920240"/>
            <a:ext cx="822960" cy="822960"/>
          </a:xfrm>
          <a:prstGeom prst="ellipse">
            <a:avLst/>
          </a:prstGeom>
          <a:solidFill>
            <a:schemeClr val="accent1"/>
          </a:solidFill>
          <a:ln/>
        </p:spPr>
      </p:sp>
      <p:pic>
        <p:nvPicPr>
          <p:cNvPr id="6" name="mechanism 1 icon" descr="mechanism 1">    </p:cNvPr>
          <p:cNvPicPr>
            <a:picLocks noChangeAspect="1"/>
          </p:cNvPicPr>
          <p:nvPr/>
        </p:nvPicPr>
        <p:blipFill>
          <a:blip r:embed="rId1"/>
          <a:stretch>
            <a:fillRect/>
          </a:stretch>
        </p:blipFill>
        <p:spPr>
          <a:xfrm>
            <a:off x="1028700" y="2125980"/>
            <a:ext cx="411480" cy="411480"/>
          </a:xfrm>
          <a:prstGeom prst="rect">
            <a:avLst/>
          </a:prstGeom>
        </p:spPr>
      </p:pic>
      <p:sp>
        <p:nvSpPr>
          <p:cNvPr id="7" name="mechanism text 1"/>
          <p:cNvSpPr txBox="1"/>
          <p:nvPr/>
        </p:nvSpPr>
        <p:spPr>
          <a:xfrm>
            <a:off x="1874520" y="1828800"/>
            <a:ext cx="3794760" cy="1417320"/>
          </a:xfrm>
          <a:prstGeom prst="rect">
            <a:avLst/>
          </a:prstGeom>
          <a:noFill/>
          <a:ln/>
        </p:spPr>
        <p:txBody>
          <a:bodyPr wrap="square" lIns="0" tIns="0" rIns="0" bIns="0" rtlCol="0" anchor="ctr"/>
          <a:lstStyle/>
          <a:p>
            <a:pPr indent="0" marL="0">
              <a:buNone/>
            </a:pPr>
            <a:r>
              <a:rPr lang="en-US" sz="1800" b="1" dirty="0">
                <a:solidFill>
                  <a:schemeClr val="tx2"/>
                </a:solidFill>
              </a:rPr>
              <a:t>1. Reduced entry</a:t>
            </a:r>
            <a:endParaRPr lang="en-US" sz="1800" dirty="0"/>
          </a:p>
          <a:p>
            <a:pPr indent="0" marL="0">
              <a:buNone/>
            </a:pPr>
            <a:r>
              <a:rPr lang="en-US" sz="1400" dirty="0">
                <a:solidFill>
                  <a:schemeClr val="tx1"/>
                </a:solidFill>
              </a:rPr>
              <a:t>Loss of outer-membrane porins (e.g., OmpK36 in K. pneumoniae, OprD in P. aeruginosa) blocks drug entry.</a:t>
            </a:r>
            <a:endParaRPr lang="en-US" sz="1800" dirty="0"/>
          </a:p>
        </p:txBody>
      </p:sp>
      <p:sp>
        <p:nvSpPr>
          <p:cNvPr id="8" name="mechanism card 2"/>
          <p:cNvSpPr/>
          <p:nvPr/>
        </p:nvSpPr>
        <p:spPr>
          <a:xfrm>
            <a:off x="6291072" y="1645920"/>
            <a:ext cx="5349240" cy="1783080"/>
          </a:xfrm>
          <a:prstGeom prst="roundRect">
            <a:avLst>
              <a:gd name="adj" fmla="val 4103"/>
            </a:avLst>
          </a:prstGeom>
          <a:solidFill>
            <a:schemeClr val="bg2"/>
          </a:solidFill>
          <a:ln/>
        </p:spPr>
      </p:sp>
      <p:sp>
        <p:nvSpPr>
          <p:cNvPr id="9" name="mechanism 2 circle"/>
          <p:cNvSpPr/>
          <p:nvPr/>
        </p:nvSpPr>
        <p:spPr>
          <a:xfrm>
            <a:off x="6565392" y="1920240"/>
            <a:ext cx="822960" cy="822960"/>
          </a:xfrm>
          <a:prstGeom prst="ellipse">
            <a:avLst/>
          </a:prstGeom>
          <a:solidFill>
            <a:schemeClr val="accent1"/>
          </a:solidFill>
          <a:ln/>
        </p:spPr>
      </p:sp>
      <p:pic>
        <p:nvPicPr>
          <p:cNvPr id="10" name="mechanism 2 icon" descr="mechanism 2">    </p:cNvPr>
          <p:cNvPicPr>
            <a:picLocks noChangeAspect="1"/>
          </p:cNvPicPr>
          <p:nvPr/>
        </p:nvPicPr>
        <p:blipFill>
          <a:blip r:embed="rId2"/>
          <a:stretch>
            <a:fillRect/>
          </a:stretch>
        </p:blipFill>
        <p:spPr>
          <a:xfrm>
            <a:off x="6771132" y="2125980"/>
            <a:ext cx="411480" cy="411480"/>
          </a:xfrm>
          <a:prstGeom prst="rect">
            <a:avLst/>
          </a:prstGeom>
        </p:spPr>
      </p:pic>
      <p:sp>
        <p:nvSpPr>
          <p:cNvPr id="11" name="mechanism text 2"/>
          <p:cNvSpPr txBox="1"/>
          <p:nvPr/>
        </p:nvSpPr>
        <p:spPr>
          <a:xfrm>
            <a:off x="7616952" y="1828800"/>
            <a:ext cx="3794760" cy="1417320"/>
          </a:xfrm>
          <a:prstGeom prst="rect">
            <a:avLst/>
          </a:prstGeom>
          <a:noFill/>
          <a:ln/>
        </p:spPr>
        <p:txBody>
          <a:bodyPr wrap="square" lIns="0" tIns="0" rIns="0" bIns="0" rtlCol="0" anchor="ctr"/>
          <a:lstStyle/>
          <a:p>
            <a:pPr indent="0" marL="0">
              <a:buNone/>
            </a:pPr>
            <a:r>
              <a:rPr lang="en-US" sz="1800" b="1" dirty="0">
                <a:solidFill>
                  <a:schemeClr val="tx2"/>
                </a:solidFill>
              </a:rPr>
              <a:t>2. Active efflux</a:t>
            </a:r>
            <a:endParaRPr lang="en-US" sz="1800" dirty="0"/>
          </a:p>
          <a:p>
            <a:pPr indent="0" marL="0">
              <a:buNone/>
            </a:pPr>
            <a:r>
              <a:rPr lang="en-US" sz="1400" dirty="0">
                <a:solidFill>
                  <a:schemeClr val="tx1"/>
                </a:solidFill>
              </a:rPr>
              <a:t>Pumps such as AcrAB–TolC and MexAB–OprM expel β-lactams, fluoroquinolones and tetracyclines.</a:t>
            </a:r>
            <a:endParaRPr lang="en-US" sz="1800" dirty="0"/>
          </a:p>
        </p:txBody>
      </p:sp>
      <p:sp>
        <p:nvSpPr>
          <p:cNvPr id="12" name="mechanism card 3"/>
          <p:cNvSpPr/>
          <p:nvPr/>
        </p:nvSpPr>
        <p:spPr>
          <a:xfrm>
            <a:off x="548640" y="3703320"/>
            <a:ext cx="5349240" cy="1783080"/>
          </a:xfrm>
          <a:prstGeom prst="roundRect">
            <a:avLst>
              <a:gd name="adj" fmla="val 4103"/>
            </a:avLst>
          </a:prstGeom>
          <a:solidFill>
            <a:schemeClr val="bg2"/>
          </a:solidFill>
          <a:ln/>
        </p:spPr>
      </p:sp>
      <p:sp>
        <p:nvSpPr>
          <p:cNvPr id="13" name="mechanism 3 circle"/>
          <p:cNvSpPr/>
          <p:nvPr/>
        </p:nvSpPr>
        <p:spPr>
          <a:xfrm>
            <a:off x="822960" y="3977640"/>
            <a:ext cx="822960" cy="822960"/>
          </a:xfrm>
          <a:prstGeom prst="ellipse">
            <a:avLst/>
          </a:prstGeom>
          <a:solidFill>
            <a:schemeClr val="accent1"/>
          </a:solidFill>
          <a:ln/>
        </p:spPr>
      </p:sp>
      <p:pic>
        <p:nvPicPr>
          <p:cNvPr id="14" name="mechanism 3 icon" descr="mechanism 3">    </p:cNvPr>
          <p:cNvPicPr>
            <a:picLocks noChangeAspect="1"/>
          </p:cNvPicPr>
          <p:nvPr/>
        </p:nvPicPr>
        <p:blipFill>
          <a:blip r:embed="rId3"/>
          <a:stretch>
            <a:fillRect/>
          </a:stretch>
        </p:blipFill>
        <p:spPr>
          <a:xfrm>
            <a:off x="1028700" y="4183380"/>
            <a:ext cx="411480" cy="411480"/>
          </a:xfrm>
          <a:prstGeom prst="rect">
            <a:avLst/>
          </a:prstGeom>
        </p:spPr>
      </p:pic>
      <p:sp>
        <p:nvSpPr>
          <p:cNvPr id="15" name="mechanism text 3"/>
          <p:cNvSpPr txBox="1"/>
          <p:nvPr/>
        </p:nvSpPr>
        <p:spPr>
          <a:xfrm>
            <a:off x="1874520" y="3886200"/>
            <a:ext cx="3794760" cy="1417320"/>
          </a:xfrm>
          <a:prstGeom prst="rect">
            <a:avLst/>
          </a:prstGeom>
          <a:noFill/>
          <a:ln/>
        </p:spPr>
        <p:txBody>
          <a:bodyPr wrap="square" lIns="0" tIns="0" rIns="0" bIns="0" rtlCol="0" anchor="ctr"/>
          <a:lstStyle/>
          <a:p>
            <a:pPr indent="0" marL="0">
              <a:buNone/>
            </a:pPr>
            <a:r>
              <a:rPr lang="en-US" sz="1800" b="1" dirty="0">
                <a:solidFill>
                  <a:schemeClr val="tx2"/>
                </a:solidFill>
              </a:rPr>
              <a:t>3. Target modification</a:t>
            </a:r>
            <a:endParaRPr lang="en-US" sz="1800" dirty="0"/>
          </a:p>
          <a:p>
            <a:pPr indent="0" marL="0">
              <a:buNone/>
            </a:pPr>
            <a:r>
              <a:rPr lang="en-US" sz="1400" dirty="0">
                <a:solidFill>
                  <a:schemeClr val="tx1"/>
                </a:solidFill>
              </a:rPr>
              <a:t>Mutations in DNA gyrase (gyrA) or topoisomerase IV (parC), altered PBPs, or lipid A changes (mcr) reduce binding.</a:t>
            </a:r>
            <a:endParaRPr lang="en-US" sz="1800" dirty="0"/>
          </a:p>
        </p:txBody>
      </p:sp>
      <p:sp>
        <p:nvSpPr>
          <p:cNvPr id="16" name="mechanism card 4"/>
          <p:cNvSpPr/>
          <p:nvPr/>
        </p:nvSpPr>
        <p:spPr>
          <a:xfrm>
            <a:off x="6291072" y="3703320"/>
            <a:ext cx="5349240" cy="1783080"/>
          </a:xfrm>
          <a:prstGeom prst="roundRect">
            <a:avLst>
              <a:gd name="adj" fmla="val 4103"/>
            </a:avLst>
          </a:prstGeom>
          <a:solidFill>
            <a:schemeClr val="tx2"/>
          </a:solidFill>
          <a:ln/>
        </p:spPr>
      </p:sp>
      <p:sp>
        <p:nvSpPr>
          <p:cNvPr id="17" name="mechanism 4 circle"/>
          <p:cNvSpPr/>
          <p:nvPr/>
        </p:nvSpPr>
        <p:spPr>
          <a:xfrm>
            <a:off x="6565392" y="3977640"/>
            <a:ext cx="822960" cy="822960"/>
          </a:xfrm>
          <a:prstGeom prst="ellipse">
            <a:avLst/>
          </a:prstGeom>
          <a:solidFill>
            <a:schemeClr val="accent2"/>
          </a:solidFill>
          <a:ln/>
        </p:spPr>
      </p:sp>
      <p:pic>
        <p:nvPicPr>
          <p:cNvPr id="18" name="mechanism 4 icon" descr="mechanism 4">    </p:cNvPr>
          <p:cNvPicPr>
            <a:picLocks noChangeAspect="1"/>
          </p:cNvPicPr>
          <p:nvPr/>
        </p:nvPicPr>
        <p:blipFill>
          <a:blip r:embed="rId4"/>
          <a:stretch>
            <a:fillRect/>
          </a:stretch>
        </p:blipFill>
        <p:spPr>
          <a:xfrm>
            <a:off x="6771132" y="4183380"/>
            <a:ext cx="411480" cy="411480"/>
          </a:xfrm>
          <a:prstGeom prst="rect">
            <a:avLst/>
          </a:prstGeom>
        </p:spPr>
      </p:pic>
      <p:sp>
        <p:nvSpPr>
          <p:cNvPr id="19" name="mechanism text 4"/>
          <p:cNvSpPr txBox="1"/>
          <p:nvPr/>
        </p:nvSpPr>
        <p:spPr>
          <a:xfrm>
            <a:off x="7616952" y="3886200"/>
            <a:ext cx="3794760" cy="1417320"/>
          </a:xfrm>
          <a:prstGeom prst="rect">
            <a:avLst/>
          </a:prstGeom>
          <a:noFill/>
          <a:ln/>
        </p:spPr>
        <p:txBody>
          <a:bodyPr wrap="square" lIns="0" tIns="0" rIns="0" bIns="0" rtlCol="0" anchor="ctr"/>
          <a:lstStyle/>
          <a:p>
            <a:pPr indent="0" marL="0">
              <a:buNone/>
            </a:pPr>
            <a:r>
              <a:rPr lang="en-US" sz="1800" b="1" dirty="0">
                <a:solidFill>
                  <a:schemeClr val="accent3"/>
                </a:solidFill>
              </a:rPr>
              <a:t>4. Enzymatic inactivation</a:t>
            </a:r>
            <a:endParaRPr lang="en-US" sz="1800" dirty="0"/>
          </a:p>
          <a:p>
            <a:pPr indent="0" marL="0">
              <a:buNone/>
            </a:pPr>
            <a:r>
              <a:rPr lang="en-US" sz="1400" dirty="0">
                <a:solidFill>
                  <a:schemeClr val="bg1"/>
                </a:solidFill>
              </a:rPr>
              <a:t>β-lactamases hydrolyze β-lactam antibiotics; more than 12,000 variants have been characterized.</a:t>
            </a:r>
            <a:endParaRPr lang="en-US" sz="1800" dirty="0"/>
          </a:p>
        </p:txBody>
      </p:sp>
      <p:sp>
        <p:nvSpPr>
          <p:cNvPr id="20" name="adaptive note"/>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400" b="1" dirty="0">
                <a:solidFill>
                  <a:schemeClr val="accent1"/>
                </a:solidFill>
              </a:rPr>
              <a:t>Adaptive responses add more: </a:t>
            </a:r>
            <a:pPr indent="0" marL="0">
              <a:buNone/>
            </a:pPr>
            <a:r>
              <a:rPr lang="en-US" sz="1400" dirty="0">
                <a:solidFill>
                  <a:schemeClr val="tx1"/>
                </a:solidFill>
              </a:rPr>
              <a:t>stress-pathway up-regulation, metabolic reprogramming, persister states and biofilm formation.</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200" b="1" spc="300" kern="0" dirty="0">
                <a:solidFill>
                  <a:schemeClr val="accent1"/>
                </a:solidFill>
              </a:rPr>
              <a:t>EXTENDED-SPECTRUM BETA-LACTAMASES (ESBLS)</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ESBLs are common, and travel helps them spread</a:t>
            </a:r>
            <a:endParaRPr lang="en-US" sz="3200" dirty="0"/>
          </a:p>
        </p:txBody>
      </p:sp>
      <p:graphicFrame>
        <p:nvGraphicFramePr>
          <p:cNvPr id="4" name="ESBL prevalence chart" descr="Bar chart: ESBL production in E. coli isolates — Egypt 77%, China 64%, Russia 62%, Mexico 58%, United States about 20% of E. coli urinary tract infections."/>
          <p:cNvGraphicFramePr/>
          <p:nvPr/>
        </p:nvGraphicFramePr>
        <p:xfrm>
          <a:off x="548640" y="1554480"/>
          <a:ext cx="6035040" cy="4114800"/>
        </p:xfrm>
        <a:graphic xmlns:a="http://schemas.openxmlformats.org/drawingml/2006/main">
          <a:graphicData uri="http://schemas.openxmlformats.org/drawingml/2006/chart">
            <c:chart xmlns:c="http://schemas.openxmlformats.org/drawingml/2006/chart" r:id="rId1"/>
          </a:graphicData>
        </a:graphic>
      </p:graphicFrame>
      <p:sp>
        <p:nvSpPr>
          <p:cNvPr id="5" name="chart footnote"/>
          <p:cNvSpPr txBox="1"/>
          <p:nvPr/>
        </p:nvSpPr>
        <p:spPr>
          <a:xfrm>
            <a:off x="548640" y="5715000"/>
            <a:ext cx="6035040" cy="320040"/>
          </a:xfrm>
          <a:prstGeom prst="rect">
            <a:avLst/>
          </a:prstGeom>
          <a:noFill/>
          <a:ln/>
        </p:spPr>
        <p:txBody>
          <a:bodyPr wrap="square" lIns="0" tIns="0" rIns="0" bIns="0" rtlCol="0" anchor="ctr"/>
          <a:lstStyle/>
          <a:p>
            <a:pPr indent="0" marL="0">
              <a:buNone/>
            </a:pPr>
            <a:r>
              <a:rPr lang="en-US" sz="1100" dirty="0">
                <a:solidFill>
                  <a:schemeClr val="accent6"/>
                </a:solidFill>
              </a:rPr>
              <a:t>*US figure: ~20% of E. coli urinary tract infections (&gt;40% in some regions).</a:t>
            </a:r>
            <a:endParaRPr lang="en-US" sz="1100" dirty="0"/>
          </a:p>
        </p:txBody>
      </p:sp>
      <p:sp>
        <p:nvSpPr>
          <p:cNvPr id="6" name="ESBL fact 1"/>
          <p:cNvSpPr/>
          <p:nvPr/>
        </p:nvSpPr>
        <p:spPr>
          <a:xfrm>
            <a:off x="7086600" y="1600200"/>
            <a:ext cx="4556455" cy="1280160"/>
          </a:xfrm>
          <a:prstGeom prst="roundRect">
            <a:avLst>
              <a:gd name="adj" fmla="val 5714"/>
            </a:avLst>
          </a:prstGeom>
          <a:solidFill>
            <a:schemeClr val="bg2"/>
          </a:solidFill>
          <a:ln/>
        </p:spPr>
      </p:sp>
      <p:sp>
        <p:nvSpPr>
          <p:cNvPr id="7" name="ESBL fact num 1"/>
          <p:cNvSpPr txBox="1"/>
          <p:nvPr/>
        </p:nvSpPr>
        <p:spPr>
          <a:xfrm>
            <a:off x="7315200" y="1737360"/>
            <a:ext cx="1691640" cy="10058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+53%</a:t>
            </a:r>
            <a:endParaRPr lang="en-US" sz="3000" dirty="0"/>
          </a:p>
        </p:txBody>
      </p:sp>
      <p:sp>
        <p:nvSpPr>
          <p:cNvPr id="8" name="ESBL fact text 1"/>
          <p:cNvSpPr txBox="1"/>
          <p:nvPr/>
        </p:nvSpPr>
        <p:spPr>
          <a:xfrm>
            <a:off x="9098280" y="1737360"/>
            <a:ext cx="2316175" cy="1005840"/>
          </a:xfrm>
          <a:prstGeom prst="rect">
            <a:avLst/>
          </a:prstGeom>
          <a:noFill/>
          <a:ln/>
        </p:spPr>
        <p:txBody>
          <a:bodyPr wrap="square" lIns="0" tIns="0" rIns="0" bIns="0" rtlCol="0" anchor="ctr"/>
          <a:lstStyle/>
          <a:p>
            <a:pPr indent="0" marL="0">
              <a:buNone/>
            </a:pPr>
            <a:r>
              <a:rPr lang="en-US" sz="1400" dirty="0">
                <a:solidFill>
                  <a:schemeClr val="tx1"/>
                </a:solidFill>
              </a:rPr>
              <a:t>rise in US incidence of ESBL-producing Enterobacterales, 2012–2017</a:t>
            </a:r>
            <a:endParaRPr lang="en-US" sz="1400" dirty="0"/>
          </a:p>
        </p:txBody>
      </p:sp>
      <p:sp>
        <p:nvSpPr>
          <p:cNvPr id="9" name="ESBL fact 2"/>
          <p:cNvSpPr/>
          <p:nvPr/>
        </p:nvSpPr>
        <p:spPr>
          <a:xfrm>
            <a:off x="7086600" y="3063240"/>
            <a:ext cx="4556455" cy="1280160"/>
          </a:xfrm>
          <a:prstGeom prst="roundRect">
            <a:avLst>
              <a:gd name="adj" fmla="val 5714"/>
            </a:avLst>
          </a:prstGeom>
          <a:solidFill>
            <a:schemeClr val="bg2"/>
          </a:solidFill>
          <a:ln/>
        </p:spPr>
      </p:sp>
      <p:sp>
        <p:nvSpPr>
          <p:cNvPr id="10" name="ESBL fact num 2"/>
          <p:cNvSpPr txBox="1"/>
          <p:nvPr/>
        </p:nvSpPr>
        <p:spPr>
          <a:xfrm>
            <a:off x="7315200" y="3200400"/>
            <a:ext cx="1691640" cy="100584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20–35%</a:t>
            </a:r>
            <a:endParaRPr lang="en-US" sz="3000" dirty="0"/>
          </a:p>
        </p:txBody>
      </p:sp>
      <p:sp>
        <p:nvSpPr>
          <p:cNvPr id="11" name="ESBL fact text 2"/>
          <p:cNvSpPr txBox="1"/>
          <p:nvPr/>
        </p:nvSpPr>
        <p:spPr>
          <a:xfrm>
            <a:off x="9098280" y="3200400"/>
            <a:ext cx="2316175" cy="1005840"/>
          </a:xfrm>
          <a:prstGeom prst="rect">
            <a:avLst/>
          </a:prstGeom>
          <a:noFill/>
          <a:ln/>
        </p:spPr>
        <p:txBody>
          <a:bodyPr wrap="square" lIns="0" tIns="0" rIns="0" bIns="0" rtlCol="0" anchor="ctr"/>
          <a:lstStyle/>
          <a:p>
            <a:pPr indent="0" marL="0">
              <a:buNone/>
            </a:pPr>
            <a:r>
              <a:rPr lang="en-US" sz="1400" dirty="0">
                <a:solidFill>
                  <a:schemeClr val="tx1"/>
                </a:solidFill>
              </a:rPr>
              <a:t>of travelers returning from endemic regions acquire ESBL gut colonization (up to 70% after South Asia)</a:t>
            </a:r>
            <a:endParaRPr lang="en-US" sz="1400" dirty="0"/>
          </a:p>
        </p:txBody>
      </p:sp>
      <p:sp>
        <p:nvSpPr>
          <p:cNvPr id="12" name="ESBL fact 3"/>
          <p:cNvSpPr/>
          <p:nvPr/>
        </p:nvSpPr>
        <p:spPr>
          <a:xfrm>
            <a:off x="7086600" y="4526280"/>
            <a:ext cx="4556455" cy="1280160"/>
          </a:xfrm>
          <a:prstGeom prst="roundRect">
            <a:avLst>
              <a:gd name="adj" fmla="val 5714"/>
            </a:avLst>
          </a:prstGeom>
          <a:solidFill>
            <a:schemeClr val="bg2"/>
          </a:solidFill>
          <a:ln/>
        </p:spPr>
      </p:sp>
      <p:sp>
        <p:nvSpPr>
          <p:cNvPr id="13" name="ESBL fact num 3"/>
          <p:cNvSpPr txBox="1"/>
          <p:nvPr/>
        </p:nvSpPr>
        <p:spPr>
          <a:xfrm>
            <a:off x="7315200" y="4663440"/>
            <a:ext cx="1691640" cy="10058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~10%</a:t>
            </a:r>
            <a:endParaRPr lang="en-US" sz="3000" dirty="0"/>
          </a:p>
        </p:txBody>
      </p:sp>
      <p:sp>
        <p:nvSpPr>
          <p:cNvPr id="14" name="ESBL fact text 3"/>
          <p:cNvSpPr txBox="1"/>
          <p:nvPr/>
        </p:nvSpPr>
        <p:spPr>
          <a:xfrm>
            <a:off x="9098280" y="4663440"/>
            <a:ext cx="2316175" cy="1005840"/>
          </a:xfrm>
          <a:prstGeom prst="rect">
            <a:avLst/>
          </a:prstGeom>
          <a:noFill/>
          <a:ln/>
        </p:spPr>
        <p:txBody>
          <a:bodyPr wrap="square" lIns="0" tIns="0" rIns="0" bIns="0" rtlCol="0" anchor="ctr"/>
          <a:lstStyle/>
          <a:p>
            <a:pPr indent="0" marL="0">
              <a:buNone/>
            </a:pPr>
            <a:r>
              <a:rPr lang="en-US" sz="1400" dirty="0">
                <a:solidFill>
                  <a:schemeClr val="tx1"/>
                </a:solidFill>
              </a:rPr>
              <a:t>remain colonized 12 months after returning home</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200" b="1" spc="300" kern="0" dirty="0">
                <a:solidFill>
                  <a:schemeClr val="accent1"/>
                </a:solidFill>
              </a:rPr>
              <a:t>CARBAPENEMASES</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Carbapenemases are breaking our last-line drugs</a:t>
            </a:r>
            <a:endParaRPr lang="en-US" sz="3200" dirty="0"/>
          </a:p>
        </p:txBody>
      </p:sp>
      <p:sp>
        <p:nvSpPr>
          <p:cNvPr id="4" name="KPC card"/>
          <p:cNvSpPr/>
          <p:nvPr/>
        </p:nvSpPr>
        <p:spPr>
          <a:xfrm>
            <a:off x="548640" y="1645920"/>
            <a:ext cx="2036003" cy="3840480"/>
          </a:xfrm>
          <a:prstGeom prst="roundRect">
            <a:avLst>
              <a:gd name="adj" fmla="val 3593"/>
            </a:avLst>
          </a:prstGeom>
          <a:solidFill>
            <a:schemeClr val="bg2"/>
          </a:solidFill>
          <a:ln/>
        </p:spPr>
      </p:sp>
      <p:sp>
        <p:nvSpPr>
          <p:cNvPr id="5" name="KPC badge"/>
          <p:cNvSpPr/>
          <p:nvPr/>
        </p:nvSpPr>
        <p:spPr>
          <a:xfrm>
            <a:off x="777240" y="1874520"/>
            <a:ext cx="960120" cy="960120"/>
          </a:xfrm>
          <a:prstGeom prst="ellipse">
            <a:avLst/>
          </a:prstGeom>
          <a:solidFill>
            <a:schemeClr val="accent1"/>
          </a:solidFill>
          <a:ln/>
        </p:spPr>
      </p:sp>
      <p:sp>
        <p:nvSpPr>
          <p:cNvPr id="6" name="KPC label"/>
          <p:cNvSpPr txBox="1"/>
          <p:nvPr/>
        </p:nvSpPr>
        <p:spPr>
          <a:xfrm>
            <a:off x="777240" y="1874520"/>
            <a:ext cx="960120" cy="960120"/>
          </a:xfrm>
          <a:prstGeom prst="rect">
            <a:avLst/>
          </a:prstGeom>
          <a:noFill/>
          <a:ln/>
        </p:spPr>
        <p:txBody>
          <a:bodyPr wrap="square" lIns="0" tIns="0" rIns="0" bIns="0" rtlCol="0" anchor="ctr"/>
          <a:lstStyle/>
          <a:p>
            <a:pPr algn="ctr" indent="0" marL="0">
              <a:buNone/>
            </a:pPr>
            <a:r>
              <a:rPr lang="en-US" sz="1800" b="1" dirty="0">
                <a:solidFill>
                  <a:schemeClr val="bg1"/>
                </a:solidFill>
              </a:rPr>
              <a:t>KPC</a:t>
            </a:r>
            <a:endParaRPr lang="en-US" sz="1800" dirty="0"/>
          </a:p>
        </p:txBody>
      </p:sp>
      <p:sp>
        <p:nvSpPr>
          <p:cNvPr id="7" name="KPC name"/>
          <p:cNvSpPr txBox="1"/>
          <p:nvPr/>
        </p:nvSpPr>
        <p:spPr>
          <a:xfrm>
            <a:off x="777240" y="2971800"/>
            <a:ext cx="1624523" cy="594360"/>
          </a:xfrm>
          <a:prstGeom prst="rect">
            <a:avLst/>
          </a:prstGeom>
          <a:noFill/>
          <a:ln/>
        </p:spPr>
        <p:txBody>
          <a:bodyPr wrap="square" lIns="0" tIns="0" rIns="0" bIns="0" rtlCol="0" anchor="t"/>
          <a:lstStyle/>
          <a:p>
            <a:pPr indent="0" marL="0">
              <a:buNone/>
            </a:pPr>
            <a:r>
              <a:rPr lang="en-US" sz="1400" b="1" dirty="0">
                <a:solidFill>
                  <a:schemeClr val="tx2"/>
                </a:solidFill>
              </a:rPr>
              <a:t>K. pneumoniae carbapenemase</a:t>
            </a:r>
            <a:endParaRPr lang="en-US" sz="1400" dirty="0"/>
          </a:p>
        </p:txBody>
      </p:sp>
      <p:sp>
        <p:nvSpPr>
          <p:cNvPr id="8" name="KPC facts"/>
          <p:cNvSpPr txBox="1"/>
          <p:nvPr/>
        </p:nvSpPr>
        <p:spPr>
          <a:xfrm>
            <a:off x="731520" y="3611880"/>
            <a:ext cx="1715963" cy="173736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First found in 1996 (North Carolina)</a:t>
            </a:r>
            <a:endParaRPr lang="en-US" sz="1200" dirty="0"/>
          </a:p>
          <a:p>
            <a:pPr marL="152400" indent="-152400">
              <a:spcAft>
                <a:spcPts val="500"/>
              </a:spcAft>
              <a:buSzPct val="100000"/>
              <a:buChar char="•"/>
            </a:pPr>
            <a:r>
              <a:rPr lang="en-US" sz="1200" dirty="0">
                <a:solidFill>
                  <a:schemeClr val="tx1"/>
                </a:solidFill>
              </a:rPr>
              <a:t>~80% of US carbapenemase producers, now declining</a:t>
            </a:r>
            <a:endParaRPr lang="en-US" sz="1200" dirty="0"/>
          </a:p>
          <a:p>
            <a:pPr marL="152400" indent="-152400">
              <a:spcAft>
                <a:spcPts val="500"/>
              </a:spcAft>
              <a:buSzPct val="100000"/>
              <a:buChar char="•"/>
            </a:pPr>
            <a:r>
              <a:rPr lang="en-US" sz="1200" dirty="0">
                <a:solidFill>
                  <a:schemeClr val="tx1"/>
                </a:solidFill>
              </a:rPr>
              <a:t>Spread by clone ST258 and blaKPC plasmids</a:t>
            </a:r>
            <a:endParaRPr lang="en-US" sz="1200" dirty="0"/>
          </a:p>
        </p:txBody>
      </p:sp>
      <p:sp>
        <p:nvSpPr>
          <p:cNvPr id="9" name="NDM card"/>
          <p:cNvSpPr/>
          <p:nvPr/>
        </p:nvSpPr>
        <p:spPr>
          <a:xfrm>
            <a:off x="2813243" y="1645920"/>
            <a:ext cx="2036003" cy="3840480"/>
          </a:xfrm>
          <a:prstGeom prst="roundRect">
            <a:avLst>
              <a:gd name="adj" fmla="val 3593"/>
            </a:avLst>
          </a:prstGeom>
          <a:solidFill>
            <a:schemeClr val="bg2"/>
          </a:solidFill>
          <a:ln/>
        </p:spPr>
      </p:sp>
      <p:sp>
        <p:nvSpPr>
          <p:cNvPr id="10" name="NDM badge"/>
          <p:cNvSpPr/>
          <p:nvPr/>
        </p:nvSpPr>
        <p:spPr>
          <a:xfrm>
            <a:off x="3041843" y="1874520"/>
            <a:ext cx="960120" cy="960120"/>
          </a:xfrm>
          <a:prstGeom prst="ellipse">
            <a:avLst/>
          </a:prstGeom>
          <a:solidFill>
            <a:schemeClr val="accent2"/>
          </a:solidFill>
          <a:ln/>
        </p:spPr>
      </p:sp>
      <p:sp>
        <p:nvSpPr>
          <p:cNvPr id="11" name="NDM label"/>
          <p:cNvSpPr txBox="1"/>
          <p:nvPr/>
        </p:nvSpPr>
        <p:spPr>
          <a:xfrm>
            <a:off x="3041843" y="1874520"/>
            <a:ext cx="960120" cy="960120"/>
          </a:xfrm>
          <a:prstGeom prst="rect">
            <a:avLst/>
          </a:prstGeom>
          <a:noFill/>
          <a:ln/>
        </p:spPr>
        <p:txBody>
          <a:bodyPr wrap="square" lIns="0" tIns="0" rIns="0" bIns="0" rtlCol="0" anchor="ctr"/>
          <a:lstStyle/>
          <a:p>
            <a:pPr algn="ctr" indent="0" marL="0">
              <a:buNone/>
            </a:pPr>
            <a:r>
              <a:rPr lang="en-US" sz="1800" b="1" dirty="0">
                <a:solidFill>
                  <a:schemeClr val="bg1"/>
                </a:solidFill>
              </a:rPr>
              <a:t>NDM</a:t>
            </a:r>
            <a:endParaRPr lang="en-US" sz="1800" dirty="0"/>
          </a:p>
        </p:txBody>
      </p:sp>
      <p:sp>
        <p:nvSpPr>
          <p:cNvPr id="12" name="NDM name"/>
          <p:cNvSpPr txBox="1"/>
          <p:nvPr/>
        </p:nvSpPr>
        <p:spPr>
          <a:xfrm>
            <a:off x="3041843" y="2971800"/>
            <a:ext cx="1624523" cy="594360"/>
          </a:xfrm>
          <a:prstGeom prst="rect">
            <a:avLst/>
          </a:prstGeom>
          <a:noFill/>
          <a:ln/>
        </p:spPr>
        <p:txBody>
          <a:bodyPr wrap="square" lIns="0" tIns="0" rIns="0" bIns="0" rtlCol="0" anchor="t"/>
          <a:lstStyle/>
          <a:p>
            <a:pPr indent="0" marL="0">
              <a:buNone/>
            </a:pPr>
            <a:r>
              <a:rPr lang="en-US" sz="1400" b="1" dirty="0">
                <a:solidFill>
                  <a:schemeClr val="tx2"/>
                </a:solidFill>
              </a:rPr>
              <a:t>New Delhi metallo-β-lactamase</a:t>
            </a:r>
            <a:endParaRPr lang="en-US" sz="1400" dirty="0"/>
          </a:p>
        </p:txBody>
      </p:sp>
      <p:sp>
        <p:nvSpPr>
          <p:cNvPr id="13" name="NDM facts"/>
          <p:cNvSpPr txBox="1"/>
          <p:nvPr/>
        </p:nvSpPr>
        <p:spPr>
          <a:xfrm>
            <a:off x="2996123" y="3611880"/>
            <a:ext cx="1715963" cy="173736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US incidence up ~461% (2019–2023)</a:t>
            </a:r>
            <a:endParaRPr lang="en-US" sz="1200" dirty="0"/>
          </a:p>
          <a:p>
            <a:pPr marL="152400" indent="-152400">
              <a:spcAft>
                <a:spcPts val="500"/>
              </a:spcAft>
              <a:buSzPct val="100000"/>
              <a:buChar char="•"/>
            </a:pPr>
            <a:r>
              <a:rPr lang="en-US" sz="1200" dirty="0">
                <a:solidFill>
                  <a:schemeClr val="tx1"/>
                </a:solidFill>
              </a:rPr>
              <a:t>Endemic in South Asia and the Balkans</a:t>
            </a:r>
            <a:endParaRPr lang="en-US" sz="1200" dirty="0"/>
          </a:p>
          <a:p>
            <a:pPr marL="152400" indent="-152400">
              <a:spcAft>
                <a:spcPts val="500"/>
              </a:spcAft>
              <a:buSzPct val="100000"/>
              <a:buChar char="•"/>
            </a:pPr>
            <a:r>
              <a:rPr lang="en-US" sz="1200" dirty="0">
                <a:solidFill>
                  <a:schemeClr val="tx1"/>
                </a:solidFill>
              </a:rPr>
              <a:t>Found in municipal water supplies</a:t>
            </a:r>
            <a:endParaRPr lang="en-US" sz="1200" dirty="0"/>
          </a:p>
        </p:txBody>
      </p:sp>
      <p:sp>
        <p:nvSpPr>
          <p:cNvPr id="14" name="VIM card"/>
          <p:cNvSpPr/>
          <p:nvPr/>
        </p:nvSpPr>
        <p:spPr>
          <a:xfrm>
            <a:off x="5077846" y="1645920"/>
            <a:ext cx="2036003" cy="3840480"/>
          </a:xfrm>
          <a:prstGeom prst="roundRect">
            <a:avLst>
              <a:gd name="adj" fmla="val 3593"/>
            </a:avLst>
          </a:prstGeom>
          <a:solidFill>
            <a:schemeClr val="bg2"/>
          </a:solidFill>
          <a:ln/>
        </p:spPr>
      </p:sp>
      <p:sp>
        <p:nvSpPr>
          <p:cNvPr id="15" name="VIM badge"/>
          <p:cNvSpPr/>
          <p:nvPr/>
        </p:nvSpPr>
        <p:spPr>
          <a:xfrm>
            <a:off x="5306446" y="1874520"/>
            <a:ext cx="960120" cy="960120"/>
          </a:xfrm>
          <a:prstGeom prst="ellipse">
            <a:avLst/>
          </a:prstGeom>
          <a:solidFill>
            <a:schemeClr val="accent2"/>
          </a:solidFill>
          <a:ln/>
        </p:spPr>
      </p:sp>
      <p:sp>
        <p:nvSpPr>
          <p:cNvPr id="16" name="VIM label"/>
          <p:cNvSpPr txBox="1"/>
          <p:nvPr/>
        </p:nvSpPr>
        <p:spPr>
          <a:xfrm>
            <a:off x="5306446" y="1874520"/>
            <a:ext cx="960120" cy="960120"/>
          </a:xfrm>
          <a:prstGeom prst="rect">
            <a:avLst/>
          </a:prstGeom>
          <a:noFill/>
          <a:ln/>
        </p:spPr>
        <p:txBody>
          <a:bodyPr wrap="square" lIns="0" tIns="0" rIns="0" bIns="0" rtlCol="0" anchor="ctr"/>
          <a:lstStyle/>
          <a:p>
            <a:pPr algn="ctr" indent="0" marL="0">
              <a:buNone/>
            </a:pPr>
            <a:r>
              <a:rPr lang="en-US" sz="1800" b="1" dirty="0">
                <a:solidFill>
                  <a:schemeClr val="bg1"/>
                </a:solidFill>
              </a:rPr>
              <a:t>VIM</a:t>
            </a:r>
            <a:endParaRPr lang="en-US" sz="1800" dirty="0"/>
          </a:p>
        </p:txBody>
      </p:sp>
      <p:sp>
        <p:nvSpPr>
          <p:cNvPr id="17" name="VIM name"/>
          <p:cNvSpPr txBox="1"/>
          <p:nvPr/>
        </p:nvSpPr>
        <p:spPr>
          <a:xfrm>
            <a:off x="5306446" y="2971800"/>
            <a:ext cx="1624523" cy="594360"/>
          </a:xfrm>
          <a:prstGeom prst="rect">
            <a:avLst/>
          </a:prstGeom>
          <a:noFill/>
          <a:ln/>
        </p:spPr>
        <p:txBody>
          <a:bodyPr wrap="square" lIns="0" tIns="0" rIns="0" bIns="0" rtlCol="0" anchor="t"/>
          <a:lstStyle/>
          <a:p>
            <a:pPr indent="0" marL="0">
              <a:buNone/>
            </a:pPr>
            <a:r>
              <a:rPr lang="en-US" sz="1400" b="1" dirty="0">
                <a:solidFill>
                  <a:schemeClr val="tx2"/>
                </a:solidFill>
              </a:rPr>
              <a:t>Verona integron-encoded MBL</a:t>
            </a:r>
            <a:endParaRPr lang="en-US" sz="1400" dirty="0"/>
          </a:p>
        </p:txBody>
      </p:sp>
      <p:sp>
        <p:nvSpPr>
          <p:cNvPr id="18" name="VIM facts"/>
          <p:cNvSpPr txBox="1"/>
          <p:nvPr/>
        </p:nvSpPr>
        <p:spPr>
          <a:xfrm>
            <a:off x="5260726" y="3611880"/>
            <a:ext cx="1715963" cy="173736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Mortality can exceed 30%</a:t>
            </a:r>
            <a:endParaRPr lang="en-US" sz="1200" dirty="0"/>
          </a:p>
          <a:p>
            <a:pPr marL="152400" indent="-152400">
              <a:spcAft>
                <a:spcPts val="500"/>
              </a:spcAft>
              <a:buSzPct val="100000"/>
              <a:buChar char="•"/>
            </a:pPr>
            <a:r>
              <a:rPr lang="en-US" sz="1200" dirty="0">
                <a:solidFill>
                  <a:schemeClr val="tx1"/>
                </a:solidFill>
              </a:rPr>
              <a:t>Greece: 14% → &gt;50% of CR P. aeruginosa (2011–2020)</a:t>
            </a:r>
            <a:endParaRPr lang="en-US" sz="1200" dirty="0"/>
          </a:p>
          <a:p>
            <a:pPr marL="152400" indent="-152400">
              <a:spcAft>
                <a:spcPts val="500"/>
              </a:spcAft>
              <a:buSzPct val="100000"/>
              <a:buChar char="•"/>
            </a:pPr>
            <a:r>
              <a:rPr lang="en-US" sz="1200" dirty="0">
                <a:solidFill>
                  <a:schemeClr val="tx1"/>
                </a:solidFill>
              </a:rPr>
              <a:t>US artificial-tears outbreak: 81 cases, 18 states</a:t>
            </a:r>
            <a:endParaRPr lang="en-US" sz="1200" dirty="0"/>
          </a:p>
        </p:txBody>
      </p:sp>
      <p:sp>
        <p:nvSpPr>
          <p:cNvPr id="19" name="IMP card"/>
          <p:cNvSpPr/>
          <p:nvPr/>
        </p:nvSpPr>
        <p:spPr>
          <a:xfrm>
            <a:off x="7342449" y="1645920"/>
            <a:ext cx="2036003" cy="3840480"/>
          </a:xfrm>
          <a:prstGeom prst="roundRect">
            <a:avLst>
              <a:gd name="adj" fmla="val 3593"/>
            </a:avLst>
          </a:prstGeom>
          <a:solidFill>
            <a:schemeClr val="bg2"/>
          </a:solidFill>
          <a:ln/>
        </p:spPr>
      </p:sp>
      <p:sp>
        <p:nvSpPr>
          <p:cNvPr id="20" name="IMP badge"/>
          <p:cNvSpPr/>
          <p:nvPr/>
        </p:nvSpPr>
        <p:spPr>
          <a:xfrm>
            <a:off x="7571049" y="1874520"/>
            <a:ext cx="960120" cy="960120"/>
          </a:xfrm>
          <a:prstGeom prst="ellipse">
            <a:avLst/>
          </a:prstGeom>
          <a:solidFill>
            <a:schemeClr val="accent1"/>
          </a:solidFill>
          <a:ln/>
        </p:spPr>
      </p:sp>
      <p:sp>
        <p:nvSpPr>
          <p:cNvPr id="21" name="IMP label"/>
          <p:cNvSpPr txBox="1"/>
          <p:nvPr/>
        </p:nvSpPr>
        <p:spPr>
          <a:xfrm>
            <a:off x="7571049" y="1874520"/>
            <a:ext cx="960120" cy="960120"/>
          </a:xfrm>
          <a:prstGeom prst="rect">
            <a:avLst/>
          </a:prstGeom>
          <a:noFill/>
          <a:ln/>
        </p:spPr>
        <p:txBody>
          <a:bodyPr wrap="square" lIns="0" tIns="0" rIns="0" bIns="0" rtlCol="0" anchor="ctr"/>
          <a:lstStyle/>
          <a:p>
            <a:pPr algn="ctr" indent="0" marL="0">
              <a:buNone/>
            </a:pPr>
            <a:r>
              <a:rPr lang="en-US" sz="1800" b="1" dirty="0">
                <a:solidFill>
                  <a:schemeClr val="bg1"/>
                </a:solidFill>
              </a:rPr>
              <a:t>IMP</a:t>
            </a:r>
            <a:endParaRPr lang="en-US" sz="1800" dirty="0"/>
          </a:p>
        </p:txBody>
      </p:sp>
      <p:sp>
        <p:nvSpPr>
          <p:cNvPr id="22" name="IMP name"/>
          <p:cNvSpPr txBox="1"/>
          <p:nvPr/>
        </p:nvSpPr>
        <p:spPr>
          <a:xfrm>
            <a:off x="7571049" y="2971800"/>
            <a:ext cx="1624523" cy="594360"/>
          </a:xfrm>
          <a:prstGeom prst="rect">
            <a:avLst/>
          </a:prstGeom>
          <a:noFill/>
          <a:ln/>
        </p:spPr>
        <p:txBody>
          <a:bodyPr wrap="square" lIns="0" tIns="0" rIns="0" bIns="0" rtlCol="0" anchor="t"/>
          <a:lstStyle/>
          <a:p>
            <a:pPr indent="0" marL="0">
              <a:buNone/>
            </a:pPr>
            <a:r>
              <a:rPr lang="en-US" sz="1400" b="1" dirty="0">
                <a:solidFill>
                  <a:schemeClr val="tx2"/>
                </a:solidFill>
              </a:rPr>
              <a:t>Imipenemase</a:t>
            </a:r>
            <a:endParaRPr lang="en-US" sz="1400" dirty="0"/>
          </a:p>
        </p:txBody>
      </p:sp>
      <p:sp>
        <p:nvSpPr>
          <p:cNvPr id="23" name="IMP facts"/>
          <p:cNvSpPr txBox="1"/>
          <p:nvPr/>
        </p:nvSpPr>
        <p:spPr>
          <a:xfrm>
            <a:off x="7525329" y="3611880"/>
            <a:ext cx="1715963" cy="173736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Lower mortality than NDM or VIM</a:t>
            </a:r>
            <a:endParaRPr lang="en-US" sz="1200" dirty="0"/>
          </a:p>
          <a:p>
            <a:pPr marL="152400" indent="-152400">
              <a:spcAft>
                <a:spcPts val="500"/>
              </a:spcAft>
              <a:buSzPct val="100000"/>
              <a:buChar char="•"/>
            </a:pPr>
            <a:r>
              <a:rPr lang="en-US" sz="1200" dirty="0">
                <a:solidFill>
                  <a:schemeClr val="tx1"/>
                </a:solidFill>
              </a:rPr>
              <a:t>Often keeps susceptibility to older agents</a:t>
            </a:r>
            <a:endParaRPr lang="en-US" sz="1200" dirty="0"/>
          </a:p>
          <a:p>
            <a:pPr marL="152400" indent="-152400">
              <a:spcAft>
                <a:spcPts val="500"/>
              </a:spcAft>
              <a:buSzPct val="100000"/>
              <a:buChar char="•"/>
            </a:pPr>
            <a:r>
              <a:rPr lang="en-US" sz="1200" dirty="0">
                <a:solidFill>
                  <a:schemeClr val="tx1"/>
                </a:solidFill>
              </a:rPr>
              <a:t>High expression carries a fitness cost</a:t>
            </a:r>
            <a:endParaRPr lang="en-US" sz="1200" dirty="0"/>
          </a:p>
        </p:txBody>
      </p:sp>
      <p:sp>
        <p:nvSpPr>
          <p:cNvPr id="24" name="OXA card"/>
          <p:cNvSpPr/>
          <p:nvPr/>
        </p:nvSpPr>
        <p:spPr>
          <a:xfrm>
            <a:off x="9607052" y="1645920"/>
            <a:ext cx="2036003" cy="3840480"/>
          </a:xfrm>
          <a:prstGeom prst="roundRect">
            <a:avLst>
              <a:gd name="adj" fmla="val 3593"/>
            </a:avLst>
          </a:prstGeom>
          <a:solidFill>
            <a:schemeClr val="bg2"/>
          </a:solidFill>
          <a:ln/>
        </p:spPr>
      </p:sp>
      <p:sp>
        <p:nvSpPr>
          <p:cNvPr id="25" name="OXA badge"/>
          <p:cNvSpPr/>
          <p:nvPr/>
        </p:nvSpPr>
        <p:spPr>
          <a:xfrm>
            <a:off x="9835652" y="1874520"/>
            <a:ext cx="960120" cy="960120"/>
          </a:xfrm>
          <a:prstGeom prst="ellipse">
            <a:avLst/>
          </a:prstGeom>
          <a:solidFill>
            <a:schemeClr val="accent1"/>
          </a:solidFill>
          <a:ln/>
        </p:spPr>
      </p:sp>
      <p:sp>
        <p:nvSpPr>
          <p:cNvPr id="26" name="OXA label"/>
          <p:cNvSpPr txBox="1"/>
          <p:nvPr/>
        </p:nvSpPr>
        <p:spPr>
          <a:xfrm>
            <a:off x="9835652" y="1874520"/>
            <a:ext cx="960120" cy="960120"/>
          </a:xfrm>
          <a:prstGeom prst="rect">
            <a:avLst/>
          </a:prstGeom>
          <a:noFill/>
          <a:ln/>
        </p:spPr>
        <p:txBody>
          <a:bodyPr wrap="square" lIns="0" tIns="0" rIns="0" bIns="0" rtlCol="0" anchor="ctr"/>
          <a:lstStyle/>
          <a:p>
            <a:pPr algn="ctr" indent="0" marL="0">
              <a:buNone/>
            </a:pPr>
            <a:r>
              <a:rPr lang="en-US" sz="1800" b="1" dirty="0">
                <a:solidFill>
                  <a:schemeClr val="bg1"/>
                </a:solidFill>
              </a:rPr>
              <a:t>OXA</a:t>
            </a:r>
            <a:endParaRPr lang="en-US" sz="1800" dirty="0"/>
          </a:p>
        </p:txBody>
      </p:sp>
      <p:sp>
        <p:nvSpPr>
          <p:cNvPr id="27" name="OXA name"/>
          <p:cNvSpPr txBox="1"/>
          <p:nvPr/>
        </p:nvSpPr>
        <p:spPr>
          <a:xfrm>
            <a:off x="9835652" y="2971800"/>
            <a:ext cx="1624523" cy="594360"/>
          </a:xfrm>
          <a:prstGeom prst="rect">
            <a:avLst/>
          </a:prstGeom>
          <a:noFill/>
          <a:ln/>
        </p:spPr>
        <p:txBody>
          <a:bodyPr wrap="square" lIns="0" tIns="0" rIns="0" bIns="0" rtlCol="0" anchor="t"/>
          <a:lstStyle/>
          <a:p>
            <a:pPr indent="0" marL="0">
              <a:buNone/>
            </a:pPr>
            <a:r>
              <a:rPr lang="en-US" sz="1400" b="1" dirty="0">
                <a:solidFill>
                  <a:schemeClr val="tx2"/>
                </a:solidFill>
              </a:rPr>
              <a:t>Oxacillinases</a:t>
            </a:r>
            <a:endParaRPr lang="en-US" sz="1400" dirty="0"/>
          </a:p>
        </p:txBody>
      </p:sp>
      <p:sp>
        <p:nvSpPr>
          <p:cNvPr id="28" name="OXA facts"/>
          <p:cNvSpPr txBox="1"/>
          <p:nvPr/>
        </p:nvSpPr>
        <p:spPr>
          <a:xfrm>
            <a:off x="9789932" y="3611880"/>
            <a:ext cx="1715963" cy="173736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OXA-48-like: ~5% of US CRE; dominant in Europe, North Africa and the Middle East</a:t>
            </a:r>
            <a:endParaRPr lang="en-US" sz="1200" dirty="0"/>
          </a:p>
          <a:p>
            <a:pPr marL="152400" indent="-152400">
              <a:spcAft>
                <a:spcPts val="500"/>
              </a:spcAft>
              <a:buSzPct val="100000"/>
              <a:buChar char="•"/>
            </a:pPr>
            <a:r>
              <a:rPr lang="en-US" sz="1200" dirty="0">
                <a:solidFill>
                  <a:schemeClr val="tx1"/>
                </a:solidFill>
              </a:rPr>
              <a:t>&gt;90% of carbapenem-resistant A. baumannii</a:t>
            </a:r>
            <a:endParaRPr lang="en-US" sz="1200" dirty="0"/>
          </a:p>
        </p:txBody>
      </p:sp>
      <p:sp>
        <p:nvSpPr>
          <p:cNvPr id="29" name="carbapenemase context"/>
          <p:cNvSpPr txBox="1"/>
          <p:nvPr/>
        </p:nvSpPr>
        <p:spPr>
          <a:xfrm>
            <a:off x="548640" y="5669280"/>
            <a:ext cx="11094415" cy="548640"/>
          </a:xfrm>
          <a:prstGeom prst="rect">
            <a:avLst/>
          </a:prstGeom>
          <a:noFill/>
          <a:ln/>
        </p:spPr>
        <p:txBody>
          <a:bodyPr wrap="square" lIns="0" tIns="0" rIns="0" bIns="0" rtlCol="0" anchor="t"/>
          <a:lstStyle/>
          <a:p>
            <a:pPr indent="0" marL="0">
              <a:buNone/>
            </a:pPr>
            <a:r>
              <a:rPr lang="en-US" sz="1300" b="1" dirty="0">
                <a:solidFill>
                  <a:schemeClr val="accent1"/>
                </a:solidFill>
              </a:rPr>
              <a:t>Context: </a:t>
            </a:r>
            <a:pPr indent="0" marL="0">
              <a:buNone/>
            </a:pPr>
            <a:r>
              <a:rPr lang="en-US" sz="1300" dirty="0">
                <a:solidFill>
                  <a:schemeClr val="tx1"/>
                </a:solidFill>
              </a:rPr>
              <a:t>CRE still account for &lt;2% of Enterobacterales infections in the US, but incidence is rising, and NDM variants that are stable under zinc-limited conditions are increasingly reported.</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200" b="1" spc="300" kern="0" dirty="0">
                <a:solidFill>
                  <a:schemeClr val="accent1"/>
                </a:solidFill>
              </a:rPr>
              <a:t>STEWARDSHIP FIRST</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Every prescription shapes the resistance we face next</a:t>
            </a:r>
            <a:endParaRPr lang="en-US" sz="3200" dirty="0"/>
          </a:p>
        </p:txBody>
      </p:sp>
      <p:sp>
        <p:nvSpPr>
          <p:cNvPr id="4" name="principle card 1"/>
          <p:cNvSpPr/>
          <p:nvPr/>
        </p:nvSpPr>
        <p:spPr>
          <a:xfrm>
            <a:off x="548640" y="1645920"/>
            <a:ext cx="5349240" cy="1783080"/>
          </a:xfrm>
          <a:prstGeom prst="roundRect">
            <a:avLst>
              <a:gd name="adj" fmla="val 4103"/>
            </a:avLst>
          </a:prstGeom>
          <a:solidFill>
            <a:schemeClr val="bg2"/>
          </a:solidFill>
          <a:ln/>
        </p:spPr>
      </p:sp>
      <p:sp>
        <p:nvSpPr>
          <p:cNvPr id="5" name="principle 1 circle"/>
          <p:cNvSpPr/>
          <p:nvPr/>
        </p:nvSpPr>
        <p:spPr>
          <a:xfrm>
            <a:off x="822960" y="1920240"/>
            <a:ext cx="822960" cy="822960"/>
          </a:xfrm>
          <a:prstGeom prst="ellipse">
            <a:avLst/>
          </a:prstGeom>
          <a:solidFill>
            <a:schemeClr val="accent1"/>
          </a:solidFill>
          <a:ln/>
        </p:spPr>
      </p:sp>
      <p:pic>
        <p:nvPicPr>
          <p:cNvPr id="6" name="principle 1 icon" descr="principle 1">    </p:cNvPr>
          <p:cNvPicPr>
            <a:picLocks noChangeAspect="1"/>
          </p:cNvPicPr>
          <p:nvPr/>
        </p:nvPicPr>
        <p:blipFill>
          <a:blip r:embed="rId1"/>
          <a:stretch>
            <a:fillRect/>
          </a:stretch>
        </p:blipFill>
        <p:spPr>
          <a:xfrm>
            <a:off x="1028700" y="2125980"/>
            <a:ext cx="411480" cy="411480"/>
          </a:xfrm>
          <a:prstGeom prst="rect">
            <a:avLst/>
          </a:prstGeom>
        </p:spPr>
      </p:pic>
      <p:sp>
        <p:nvSpPr>
          <p:cNvPr id="7" name="principle text 1"/>
          <p:cNvSpPr txBox="1"/>
          <p:nvPr/>
        </p:nvSpPr>
        <p:spPr>
          <a:xfrm>
            <a:off x="1874520" y="1828800"/>
            <a:ext cx="3794760" cy="1417320"/>
          </a:xfrm>
          <a:prstGeom prst="rect">
            <a:avLst/>
          </a:prstGeom>
          <a:noFill/>
          <a:ln/>
        </p:spPr>
        <p:txBody>
          <a:bodyPr wrap="square" lIns="0" tIns="0" rIns="0" bIns="0" rtlCol="0" anchor="ctr"/>
          <a:lstStyle/>
          <a:p>
            <a:pPr indent="0" marL="0">
              <a:buNone/>
            </a:pPr>
            <a:r>
              <a:rPr lang="en-US" sz="1800" b="1" dirty="0">
                <a:solidFill>
                  <a:schemeClr val="tx2"/>
                </a:solidFill>
              </a:rPr>
              <a:t>Prescribe judiciously</a:t>
            </a:r>
            <a:endParaRPr lang="en-US" sz="1800" dirty="0"/>
          </a:p>
          <a:p>
            <a:pPr indent="0" marL="0">
              <a:buNone/>
            </a:pPr>
            <a:r>
              <a:rPr lang="en-US" sz="1400" dirty="0">
                <a:solidFill>
                  <a:schemeClr val="tx1"/>
                </a:solidFill>
              </a:rPr>
              <a:t>Avoid unnecessary starts, prolonged courses and broad-spectrum agents without microbiologic justification.</a:t>
            </a:r>
            <a:endParaRPr lang="en-US" sz="1800" dirty="0"/>
          </a:p>
        </p:txBody>
      </p:sp>
      <p:sp>
        <p:nvSpPr>
          <p:cNvPr id="8" name="principle card 2"/>
          <p:cNvSpPr/>
          <p:nvPr/>
        </p:nvSpPr>
        <p:spPr>
          <a:xfrm>
            <a:off x="6291072" y="1645920"/>
            <a:ext cx="5349240" cy="1783080"/>
          </a:xfrm>
          <a:prstGeom prst="roundRect">
            <a:avLst>
              <a:gd name="adj" fmla="val 4103"/>
            </a:avLst>
          </a:prstGeom>
          <a:solidFill>
            <a:schemeClr val="bg2"/>
          </a:solidFill>
          <a:ln/>
        </p:spPr>
      </p:sp>
      <p:sp>
        <p:nvSpPr>
          <p:cNvPr id="9" name="principle 2 circle"/>
          <p:cNvSpPr/>
          <p:nvPr/>
        </p:nvSpPr>
        <p:spPr>
          <a:xfrm>
            <a:off x="6565392" y="1920240"/>
            <a:ext cx="822960" cy="822960"/>
          </a:xfrm>
          <a:prstGeom prst="ellipse">
            <a:avLst/>
          </a:prstGeom>
          <a:solidFill>
            <a:schemeClr val="accent1"/>
          </a:solidFill>
          <a:ln/>
        </p:spPr>
      </p:sp>
      <p:pic>
        <p:nvPicPr>
          <p:cNvPr id="10" name="principle 2 icon" descr="principle 2">    </p:cNvPr>
          <p:cNvPicPr>
            <a:picLocks noChangeAspect="1"/>
          </p:cNvPicPr>
          <p:nvPr/>
        </p:nvPicPr>
        <p:blipFill>
          <a:blip r:embed="rId2"/>
          <a:stretch>
            <a:fillRect/>
          </a:stretch>
        </p:blipFill>
        <p:spPr>
          <a:xfrm>
            <a:off x="6771132" y="2125980"/>
            <a:ext cx="411480" cy="411480"/>
          </a:xfrm>
          <a:prstGeom prst="rect">
            <a:avLst/>
          </a:prstGeom>
        </p:spPr>
      </p:pic>
      <p:sp>
        <p:nvSpPr>
          <p:cNvPr id="11" name="principle text 2"/>
          <p:cNvSpPr txBox="1"/>
          <p:nvPr/>
        </p:nvSpPr>
        <p:spPr>
          <a:xfrm>
            <a:off x="7616952" y="1828800"/>
            <a:ext cx="3794760" cy="1417320"/>
          </a:xfrm>
          <a:prstGeom prst="rect">
            <a:avLst/>
          </a:prstGeom>
          <a:noFill/>
          <a:ln/>
        </p:spPr>
        <p:txBody>
          <a:bodyPr wrap="square" lIns="0" tIns="0" rIns="0" bIns="0" rtlCol="0" anchor="ctr"/>
          <a:lstStyle/>
          <a:p>
            <a:pPr indent="0" marL="0">
              <a:buNone/>
            </a:pPr>
            <a:r>
              <a:rPr lang="en-US" sz="1800" b="1" dirty="0">
                <a:solidFill>
                  <a:schemeClr val="tx2"/>
                </a:solidFill>
              </a:rPr>
              <a:t>Optimize dosing and infusion</a:t>
            </a:r>
            <a:endParaRPr lang="en-US" sz="1800" dirty="0"/>
          </a:p>
          <a:p>
            <a:pPr indent="0" marL="0">
              <a:buNone/>
            </a:pPr>
            <a:r>
              <a:rPr lang="en-US" sz="1400" dirty="0">
                <a:solidFill>
                  <a:schemeClr val="tx1"/>
                </a:solidFill>
              </a:rPr>
              <a:t>Avoid subtherapeutic levels that let bacteria persist and select resistant subpopulations.</a:t>
            </a:r>
            <a:endParaRPr lang="en-US" sz="1800" dirty="0"/>
          </a:p>
        </p:txBody>
      </p:sp>
      <p:sp>
        <p:nvSpPr>
          <p:cNvPr id="12" name="principle card 3"/>
          <p:cNvSpPr/>
          <p:nvPr/>
        </p:nvSpPr>
        <p:spPr>
          <a:xfrm>
            <a:off x="548640" y="3703320"/>
            <a:ext cx="5349240" cy="1783080"/>
          </a:xfrm>
          <a:prstGeom prst="roundRect">
            <a:avLst>
              <a:gd name="adj" fmla="val 4103"/>
            </a:avLst>
          </a:prstGeom>
          <a:solidFill>
            <a:schemeClr val="bg2"/>
          </a:solidFill>
          <a:ln/>
        </p:spPr>
      </p:sp>
      <p:sp>
        <p:nvSpPr>
          <p:cNvPr id="13" name="principle 3 circle"/>
          <p:cNvSpPr/>
          <p:nvPr/>
        </p:nvSpPr>
        <p:spPr>
          <a:xfrm>
            <a:off x="822960" y="3977640"/>
            <a:ext cx="822960" cy="822960"/>
          </a:xfrm>
          <a:prstGeom prst="ellipse">
            <a:avLst/>
          </a:prstGeom>
          <a:solidFill>
            <a:schemeClr val="accent1"/>
          </a:solidFill>
          <a:ln/>
        </p:spPr>
      </p:sp>
      <p:pic>
        <p:nvPicPr>
          <p:cNvPr id="14" name="principle 3 icon" descr="principle 3">    </p:cNvPr>
          <p:cNvPicPr>
            <a:picLocks noChangeAspect="1"/>
          </p:cNvPicPr>
          <p:nvPr/>
        </p:nvPicPr>
        <p:blipFill>
          <a:blip r:embed="rId3"/>
          <a:stretch>
            <a:fillRect/>
          </a:stretch>
        </p:blipFill>
        <p:spPr>
          <a:xfrm>
            <a:off x="1028700" y="4183380"/>
            <a:ext cx="411480" cy="411480"/>
          </a:xfrm>
          <a:prstGeom prst="rect">
            <a:avLst/>
          </a:prstGeom>
        </p:spPr>
      </p:pic>
      <p:sp>
        <p:nvSpPr>
          <p:cNvPr id="15" name="principle text 3"/>
          <p:cNvSpPr txBox="1"/>
          <p:nvPr/>
        </p:nvSpPr>
        <p:spPr>
          <a:xfrm>
            <a:off x="1874520" y="3886200"/>
            <a:ext cx="3794760" cy="1417320"/>
          </a:xfrm>
          <a:prstGeom prst="rect">
            <a:avLst/>
          </a:prstGeom>
          <a:noFill/>
          <a:ln/>
        </p:spPr>
        <p:txBody>
          <a:bodyPr wrap="square" lIns="0" tIns="0" rIns="0" bIns="0" rtlCol="0" anchor="ctr"/>
          <a:lstStyle/>
          <a:p>
            <a:pPr indent="0" marL="0">
              <a:buNone/>
            </a:pPr>
            <a:r>
              <a:rPr lang="en-US" sz="1800" b="1" dirty="0">
                <a:solidFill>
                  <a:schemeClr val="tx2"/>
                </a:solidFill>
              </a:rPr>
              <a:t>Control the source</a:t>
            </a:r>
            <a:endParaRPr lang="en-US" sz="1800" dirty="0"/>
          </a:p>
          <a:p>
            <a:pPr indent="0" marL="0">
              <a:buNone/>
            </a:pPr>
            <a:r>
              <a:rPr lang="en-US" sz="1400" dirty="0">
                <a:solidFill>
                  <a:schemeClr val="tx1"/>
                </a:solidFill>
              </a:rPr>
              <a:t>Drain abscesses and remove infected devices to cut the need for antibiotics.</a:t>
            </a:r>
            <a:endParaRPr lang="en-US" sz="1800" dirty="0"/>
          </a:p>
        </p:txBody>
      </p:sp>
      <p:sp>
        <p:nvSpPr>
          <p:cNvPr id="16" name="principle card 4"/>
          <p:cNvSpPr/>
          <p:nvPr/>
        </p:nvSpPr>
        <p:spPr>
          <a:xfrm>
            <a:off x="6291072" y="3703320"/>
            <a:ext cx="5349240" cy="1783080"/>
          </a:xfrm>
          <a:prstGeom prst="roundRect">
            <a:avLst>
              <a:gd name="adj" fmla="val 4103"/>
            </a:avLst>
          </a:prstGeom>
          <a:solidFill>
            <a:schemeClr val="bg2"/>
          </a:solidFill>
          <a:ln/>
        </p:spPr>
      </p:sp>
      <p:sp>
        <p:nvSpPr>
          <p:cNvPr id="17" name="principle 4 circle"/>
          <p:cNvSpPr/>
          <p:nvPr/>
        </p:nvSpPr>
        <p:spPr>
          <a:xfrm>
            <a:off x="6565392" y="3977640"/>
            <a:ext cx="822960" cy="822960"/>
          </a:xfrm>
          <a:prstGeom prst="ellipse">
            <a:avLst/>
          </a:prstGeom>
          <a:solidFill>
            <a:schemeClr val="accent1"/>
          </a:solidFill>
          <a:ln/>
        </p:spPr>
      </p:sp>
      <p:pic>
        <p:nvPicPr>
          <p:cNvPr id="18" name="principle 4 icon" descr="principle 4">    </p:cNvPr>
          <p:cNvPicPr>
            <a:picLocks noChangeAspect="1"/>
          </p:cNvPicPr>
          <p:nvPr/>
        </p:nvPicPr>
        <p:blipFill>
          <a:blip r:embed="rId4"/>
          <a:stretch>
            <a:fillRect/>
          </a:stretch>
        </p:blipFill>
        <p:spPr>
          <a:xfrm>
            <a:off x="6771132" y="4183380"/>
            <a:ext cx="411480" cy="411480"/>
          </a:xfrm>
          <a:prstGeom prst="rect">
            <a:avLst/>
          </a:prstGeom>
        </p:spPr>
      </p:pic>
      <p:sp>
        <p:nvSpPr>
          <p:cNvPr id="19" name="principle text 4"/>
          <p:cNvSpPr txBox="1"/>
          <p:nvPr/>
        </p:nvSpPr>
        <p:spPr>
          <a:xfrm>
            <a:off x="7616952" y="3886200"/>
            <a:ext cx="3794760" cy="1417320"/>
          </a:xfrm>
          <a:prstGeom prst="rect">
            <a:avLst/>
          </a:prstGeom>
          <a:noFill/>
          <a:ln/>
        </p:spPr>
        <p:txBody>
          <a:bodyPr wrap="square" lIns="0" tIns="0" rIns="0" bIns="0" rtlCol="0" anchor="ctr"/>
          <a:lstStyle/>
          <a:p>
            <a:pPr indent="0" marL="0">
              <a:buNone/>
            </a:pPr>
            <a:r>
              <a:rPr lang="en-US" sz="1800" b="1" dirty="0">
                <a:solidFill>
                  <a:schemeClr val="tx2"/>
                </a:solidFill>
              </a:rPr>
              <a:t>Use the shortest effective course</a:t>
            </a:r>
            <a:endParaRPr lang="en-US" sz="1800" dirty="0"/>
          </a:p>
          <a:p>
            <a:pPr indent="0" marL="0">
              <a:buNone/>
            </a:pPr>
            <a:r>
              <a:rPr lang="en-US" sz="1400" dirty="0">
                <a:solidFill>
                  <a:schemeClr val="tx1"/>
                </a:solidFill>
              </a:rPr>
              <a:t>Resistance alone does not justify longer treatment; duration is the same whatever the phenotype.</a:t>
            </a:r>
            <a:endParaRPr lang="en-US" sz="1800" dirty="0"/>
          </a:p>
        </p:txBody>
      </p:sp>
      <p:sp>
        <p:nvSpPr>
          <p:cNvPr id="20" name="stewardship tagline"/>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500" i="1" dirty="0">
                <a:solidFill>
                  <a:schemeClr val="accent2"/>
                </a:solidFill>
              </a:rPr>
              <a:t>Selective pressure is the engine of resistance. Less unnecessary exposure means less resistance.</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200" b="1" spc="300" kern="0" dirty="0">
                <a:solidFill>
                  <a:schemeClr val="accent1"/>
                </a:solidFill>
              </a:rPr>
              <a:t>DIAGNOSTICS DRIVE TREATMENT</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Identify the enzyme, then choose the drug</a:t>
            </a:r>
            <a:endParaRPr lang="en-US" sz="3200" dirty="0"/>
          </a:p>
        </p:txBody>
      </p:sp>
      <p:sp>
        <p:nvSpPr>
          <p:cNvPr id="4" name="step card 1"/>
          <p:cNvSpPr/>
          <p:nvPr/>
        </p:nvSpPr>
        <p:spPr>
          <a:xfrm>
            <a:off x="548640" y="1828800"/>
            <a:ext cx="2377440" cy="2926080"/>
          </a:xfrm>
          <a:prstGeom prst="roundRect">
            <a:avLst>
              <a:gd name="adj" fmla="val 3077"/>
            </a:avLst>
          </a:prstGeom>
          <a:solidFill>
            <a:schemeClr val="bg2"/>
          </a:solidFill>
          <a:ln/>
        </p:spPr>
      </p:sp>
      <p:sp>
        <p:nvSpPr>
          <p:cNvPr id="5" name="step 1 circle"/>
          <p:cNvSpPr/>
          <p:nvPr/>
        </p:nvSpPr>
        <p:spPr>
          <a:xfrm>
            <a:off x="1280160" y="2103120"/>
            <a:ext cx="914400" cy="914400"/>
          </a:xfrm>
          <a:prstGeom prst="ellipse">
            <a:avLst/>
          </a:prstGeom>
          <a:solidFill>
            <a:schemeClr val="accent1"/>
          </a:solidFill>
          <a:ln/>
        </p:spPr>
      </p:sp>
      <p:pic>
        <p:nvPicPr>
          <p:cNvPr id="6" name="step 1 icon" descr="step 1">    </p:cNvPr>
          <p:cNvPicPr>
            <a:picLocks noChangeAspect="1"/>
          </p:cNvPicPr>
          <p:nvPr/>
        </p:nvPicPr>
        <p:blipFill>
          <a:blip r:embed="rId1"/>
          <a:stretch>
            <a:fillRect/>
          </a:stretch>
        </p:blipFill>
        <p:spPr>
          <a:xfrm>
            <a:off x="1508760" y="2331720"/>
            <a:ext cx="457200" cy="457200"/>
          </a:xfrm>
          <a:prstGeom prst="rect">
            <a:avLst/>
          </a:prstGeom>
        </p:spPr>
      </p:pic>
      <p:sp>
        <p:nvSpPr>
          <p:cNvPr id="7" name="step num 1"/>
          <p:cNvSpPr txBox="1"/>
          <p:nvPr/>
        </p:nvSpPr>
        <p:spPr>
          <a:xfrm>
            <a:off x="731520" y="3154680"/>
            <a:ext cx="2011680" cy="274320"/>
          </a:xfrm>
          <a:prstGeom prst="rect">
            <a:avLst/>
          </a:prstGeom>
          <a:noFill/>
          <a:ln/>
        </p:spPr>
        <p:txBody>
          <a:bodyPr wrap="square" lIns="0" tIns="0" rIns="0" bIns="0" rtlCol="0" anchor="ctr"/>
          <a:lstStyle/>
          <a:p>
            <a:pPr algn="ctr" indent="0" marL="0">
              <a:buNone/>
            </a:pPr>
            <a:r>
              <a:rPr lang="en-US" sz="1100" b="1" spc="200" kern="0" dirty="0">
                <a:solidFill>
                  <a:schemeClr val="accent6"/>
                </a:solidFill>
              </a:rPr>
              <a:t>STEP 1</a:t>
            </a:r>
            <a:endParaRPr lang="en-US" sz="1100" dirty="0"/>
          </a:p>
        </p:txBody>
      </p:sp>
      <p:sp>
        <p:nvSpPr>
          <p:cNvPr id="8" name="step head 1"/>
          <p:cNvSpPr txBox="1"/>
          <p:nvPr/>
        </p:nvSpPr>
        <p:spPr>
          <a:xfrm>
            <a:off x="731520" y="3429000"/>
            <a:ext cx="2011680" cy="365760"/>
          </a:xfrm>
          <a:prstGeom prst="rect">
            <a:avLst/>
          </a:prstGeom>
          <a:noFill/>
          <a:ln/>
        </p:spPr>
        <p:txBody>
          <a:bodyPr wrap="square" lIns="0" tIns="0" rIns="0" bIns="0" rtlCol="0" anchor="ctr"/>
          <a:lstStyle/>
          <a:p>
            <a:pPr algn="ctr" indent="0" marL="0">
              <a:buNone/>
            </a:pPr>
            <a:r>
              <a:rPr lang="en-US" sz="1700" b="1" dirty="0">
                <a:solidFill>
                  <a:schemeClr val="tx2"/>
                </a:solidFill>
              </a:rPr>
              <a:t>Culture</a:t>
            </a:r>
            <a:endParaRPr lang="en-US" sz="1700" dirty="0"/>
          </a:p>
        </p:txBody>
      </p:sp>
      <p:sp>
        <p:nvSpPr>
          <p:cNvPr id="9" name="step body 1"/>
          <p:cNvSpPr txBox="1"/>
          <p:nvPr/>
        </p:nvSpPr>
        <p:spPr>
          <a:xfrm>
            <a:off x="731520" y="3840480"/>
            <a:ext cx="2011680" cy="822960"/>
          </a:xfrm>
          <a:prstGeom prst="rect">
            <a:avLst/>
          </a:prstGeom>
          <a:noFill/>
          <a:ln/>
        </p:spPr>
        <p:txBody>
          <a:bodyPr wrap="square" lIns="0" tIns="0" rIns="0" bIns="0" rtlCol="0" anchor="t"/>
          <a:lstStyle/>
          <a:p>
            <a:pPr algn="ctr" indent="0" marL="0">
              <a:buNone/>
            </a:pPr>
            <a:r>
              <a:rPr lang="en-US" sz="1300" dirty="0">
                <a:solidFill>
                  <a:schemeClr val="tx1"/>
                </a:solidFill>
              </a:rPr>
              <a:t>Organism grows from blood, urine, respiratory or abdominal samples</a:t>
            </a:r>
            <a:endParaRPr lang="en-US" sz="1300" dirty="0"/>
          </a:p>
        </p:txBody>
      </p:sp>
      <p:sp>
        <p:nvSpPr>
          <p:cNvPr id="10" name="arrow 1"/>
          <p:cNvSpPr/>
          <p:nvPr/>
        </p:nvSpPr>
        <p:spPr>
          <a:xfrm>
            <a:off x="3017520" y="3108960"/>
            <a:ext cx="320040" cy="365760"/>
          </a:xfrm>
          <a:prstGeom prst="rightArrow">
            <a:avLst/>
          </a:prstGeom>
          <a:solidFill>
            <a:schemeClr val="accent5"/>
          </a:solidFill>
          <a:ln/>
        </p:spPr>
      </p:sp>
      <p:sp>
        <p:nvSpPr>
          <p:cNvPr id="11" name="step card 2"/>
          <p:cNvSpPr/>
          <p:nvPr/>
        </p:nvSpPr>
        <p:spPr>
          <a:xfrm>
            <a:off x="3429000" y="1828800"/>
            <a:ext cx="2377440" cy="2926080"/>
          </a:xfrm>
          <a:prstGeom prst="roundRect">
            <a:avLst>
              <a:gd name="adj" fmla="val 3077"/>
            </a:avLst>
          </a:prstGeom>
          <a:solidFill>
            <a:schemeClr val="bg2"/>
          </a:solidFill>
          <a:ln/>
        </p:spPr>
      </p:sp>
      <p:sp>
        <p:nvSpPr>
          <p:cNvPr id="12" name="step 2 circle"/>
          <p:cNvSpPr/>
          <p:nvPr/>
        </p:nvSpPr>
        <p:spPr>
          <a:xfrm>
            <a:off x="4160520" y="2103120"/>
            <a:ext cx="914400" cy="914400"/>
          </a:xfrm>
          <a:prstGeom prst="ellipse">
            <a:avLst/>
          </a:prstGeom>
          <a:solidFill>
            <a:schemeClr val="accent1"/>
          </a:solidFill>
          <a:ln/>
        </p:spPr>
      </p:sp>
      <p:pic>
        <p:nvPicPr>
          <p:cNvPr id="13" name="step 2 icon" descr="step 2">    </p:cNvPr>
          <p:cNvPicPr>
            <a:picLocks noChangeAspect="1"/>
          </p:cNvPicPr>
          <p:nvPr/>
        </p:nvPicPr>
        <p:blipFill>
          <a:blip r:embed="rId2"/>
          <a:stretch>
            <a:fillRect/>
          </a:stretch>
        </p:blipFill>
        <p:spPr>
          <a:xfrm>
            <a:off x="4389120" y="2331720"/>
            <a:ext cx="457200" cy="457200"/>
          </a:xfrm>
          <a:prstGeom prst="rect">
            <a:avLst/>
          </a:prstGeom>
        </p:spPr>
      </p:pic>
      <p:sp>
        <p:nvSpPr>
          <p:cNvPr id="14" name="step num 2"/>
          <p:cNvSpPr txBox="1"/>
          <p:nvPr/>
        </p:nvSpPr>
        <p:spPr>
          <a:xfrm>
            <a:off x="3611880" y="3154680"/>
            <a:ext cx="2011680" cy="274320"/>
          </a:xfrm>
          <a:prstGeom prst="rect">
            <a:avLst/>
          </a:prstGeom>
          <a:noFill/>
          <a:ln/>
        </p:spPr>
        <p:txBody>
          <a:bodyPr wrap="square" lIns="0" tIns="0" rIns="0" bIns="0" rtlCol="0" anchor="ctr"/>
          <a:lstStyle/>
          <a:p>
            <a:pPr algn="ctr" indent="0" marL="0">
              <a:buNone/>
            </a:pPr>
            <a:r>
              <a:rPr lang="en-US" sz="1100" b="1" spc="200" kern="0" dirty="0">
                <a:solidFill>
                  <a:schemeClr val="accent6"/>
                </a:solidFill>
              </a:rPr>
              <a:t>STEP 2</a:t>
            </a:r>
            <a:endParaRPr lang="en-US" sz="1100" dirty="0"/>
          </a:p>
        </p:txBody>
      </p:sp>
      <p:sp>
        <p:nvSpPr>
          <p:cNvPr id="15" name="step head 2"/>
          <p:cNvSpPr txBox="1"/>
          <p:nvPr/>
        </p:nvSpPr>
        <p:spPr>
          <a:xfrm>
            <a:off x="3611880" y="3429000"/>
            <a:ext cx="2011680" cy="365760"/>
          </a:xfrm>
          <a:prstGeom prst="rect">
            <a:avLst/>
          </a:prstGeom>
          <a:noFill/>
          <a:ln/>
        </p:spPr>
        <p:txBody>
          <a:bodyPr wrap="square" lIns="0" tIns="0" rIns="0" bIns="0" rtlCol="0" anchor="ctr"/>
          <a:lstStyle/>
          <a:p>
            <a:pPr algn="ctr" indent="0" marL="0">
              <a:buNone/>
            </a:pPr>
            <a:r>
              <a:rPr lang="en-US" sz="1700" b="1" dirty="0">
                <a:solidFill>
                  <a:schemeClr val="tx2"/>
                </a:solidFill>
              </a:rPr>
              <a:t>Rapid molecular test</a:t>
            </a:r>
            <a:endParaRPr lang="en-US" sz="1700" dirty="0"/>
          </a:p>
        </p:txBody>
      </p:sp>
      <p:sp>
        <p:nvSpPr>
          <p:cNvPr id="16" name="step body 2"/>
          <p:cNvSpPr txBox="1"/>
          <p:nvPr/>
        </p:nvSpPr>
        <p:spPr>
          <a:xfrm>
            <a:off x="3611880" y="3840480"/>
            <a:ext cx="2011680" cy="822960"/>
          </a:xfrm>
          <a:prstGeom prst="rect">
            <a:avLst/>
          </a:prstGeom>
          <a:noFill/>
          <a:ln/>
        </p:spPr>
        <p:txBody>
          <a:bodyPr wrap="square" lIns="0" tIns="0" rIns="0" bIns="0" rtlCol="0" anchor="t"/>
          <a:lstStyle/>
          <a:p>
            <a:pPr algn="ctr" indent="0" marL="0">
              <a:buNone/>
            </a:pPr>
            <a:r>
              <a:rPr lang="en-US" sz="1300" dirty="0">
                <a:solidFill>
                  <a:schemeClr val="tx1"/>
                </a:solidFill>
              </a:rPr>
              <a:t>Detects key β-lactamase genes, often within ~1 hour of growth</a:t>
            </a:r>
            <a:endParaRPr lang="en-US" sz="1300" dirty="0"/>
          </a:p>
        </p:txBody>
      </p:sp>
      <p:sp>
        <p:nvSpPr>
          <p:cNvPr id="17" name="arrow 2"/>
          <p:cNvSpPr/>
          <p:nvPr/>
        </p:nvSpPr>
        <p:spPr>
          <a:xfrm>
            <a:off x="5897880" y="3108960"/>
            <a:ext cx="320040" cy="365760"/>
          </a:xfrm>
          <a:prstGeom prst="rightArrow">
            <a:avLst/>
          </a:prstGeom>
          <a:solidFill>
            <a:schemeClr val="accent5"/>
          </a:solidFill>
          <a:ln/>
        </p:spPr>
      </p:sp>
      <p:sp>
        <p:nvSpPr>
          <p:cNvPr id="18" name="step card 3"/>
          <p:cNvSpPr/>
          <p:nvPr/>
        </p:nvSpPr>
        <p:spPr>
          <a:xfrm>
            <a:off x="6309360" y="1828800"/>
            <a:ext cx="2377440" cy="2926080"/>
          </a:xfrm>
          <a:prstGeom prst="roundRect">
            <a:avLst>
              <a:gd name="adj" fmla="val 3077"/>
            </a:avLst>
          </a:prstGeom>
          <a:solidFill>
            <a:schemeClr val="bg2"/>
          </a:solidFill>
          <a:ln/>
        </p:spPr>
      </p:sp>
      <p:sp>
        <p:nvSpPr>
          <p:cNvPr id="19" name="step 3 circle"/>
          <p:cNvSpPr/>
          <p:nvPr/>
        </p:nvSpPr>
        <p:spPr>
          <a:xfrm>
            <a:off x="7040880" y="2103120"/>
            <a:ext cx="914400" cy="914400"/>
          </a:xfrm>
          <a:prstGeom prst="ellipse">
            <a:avLst/>
          </a:prstGeom>
          <a:solidFill>
            <a:schemeClr val="accent1"/>
          </a:solidFill>
          <a:ln/>
        </p:spPr>
      </p:sp>
      <p:pic>
        <p:nvPicPr>
          <p:cNvPr id="20" name="step 3 icon" descr="step 3">    </p:cNvPr>
          <p:cNvPicPr>
            <a:picLocks noChangeAspect="1"/>
          </p:cNvPicPr>
          <p:nvPr/>
        </p:nvPicPr>
        <p:blipFill>
          <a:blip r:embed="rId3"/>
          <a:stretch>
            <a:fillRect/>
          </a:stretch>
        </p:blipFill>
        <p:spPr>
          <a:xfrm>
            <a:off x="7269480" y="2331720"/>
            <a:ext cx="457200" cy="457200"/>
          </a:xfrm>
          <a:prstGeom prst="rect">
            <a:avLst/>
          </a:prstGeom>
        </p:spPr>
      </p:pic>
      <p:sp>
        <p:nvSpPr>
          <p:cNvPr id="21" name="step num 3"/>
          <p:cNvSpPr txBox="1"/>
          <p:nvPr/>
        </p:nvSpPr>
        <p:spPr>
          <a:xfrm>
            <a:off x="6492240" y="3154680"/>
            <a:ext cx="2011680" cy="274320"/>
          </a:xfrm>
          <a:prstGeom prst="rect">
            <a:avLst/>
          </a:prstGeom>
          <a:noFill/>
          <a:ln/>
        </p:spPr>
        <p:txBody>
          <a:bodyPr wrap="square" lIns="0" tIns="0" rIns="0" bIns="0" rtlCol="0" anchor="ctr"/>
          <a:lstStyle/>
          <a:p>
            <a:pPr algn="ctr" indent="0" marL="0">
              <a:buNone/>
            </a:pPr>
            <a:r>
              <a:rPr lang="en-US" sz="1100" b="1" spc="200" kern="0" dirty="0">
                <a:solidFill>
                  <a:schemeClr val="accent6"/>
                </a:solidFill>
              </a:rPr>
              <a:t>STEP 3</a:t>
            </a:r>
            <a:endParaRPr lang="en-US" sz="1100" dirty="0"/>
          </a:p>
        </p:txBody>
      </p:sp>
      <p:sp>
        <p:nvSpPr>
          <p:cNvPr id="22" name="step head 3"/>
          <p:cNvSpPr txBox="1"/>
          <p:nvPr/>
        </p:nvSpPr>
        <p:spPr>
          <a:xfrm>
            <a:off x="6492240" y="3429000"/>
            <a:ext cx="2011680" cy="365760"/>
          </a:xfrm>
          <a:prstGeom prst="rect">
            <a:avLst/>
          </a:prstGeom>
          <a:noFill/>
          <a:ln/>
        </p:spPr>
        <p:txBody>
          <a:bodyPr wrap="square" lIns="0" tIns="0" rIns="0" bIns="0" rtlCol="0" anchor="ctr"/>
          <a:lstStyle/>
          <a:p>
            <a:pPr algn="ctr" indent="0" marL="0">
              <a:buNone/>
            </a:pPr>
            <a:r>
              <a:rPr lang="en-US" sz="1700" b="1" dirty="0">
                <a:solidFill>
                  <a:schemeClr val="tx2"/>
                </a:solidFill>
              </a:rPr>
              <a:t>Know the mechanism</a:t>
            </a:r>
            <a:endParaRPr lang="en-US" sz="1700" dirty="0"/>
          </a:p>
        </p:txBody>
      </p:sp>
      <p:sp>
        <p:nvSpPr>
          <p:cNvPr id="23" name="step body 3"/>
          <p:cNvSpPr txBox="1"/>
          <p:nvPr/>
        </p:nvSpPr>
        <p:spPr>
          <a:xfrm>
            <a:off x="6492240" y="3840480"/>
            <a:ext cx="2011680" cy="822960"/>
          </a:xfrm>
          <a:prstGeom prst="rect">
            <a:avLst/>
          </a:prstGeom>
          <a:noFill/>
          <a:ln/>
        </p:spPr>
        <p:txBody>
          <a:bodyPr wrap="square" lIns="0" tIns="0" rIns="0" bIns="0" rtlCol="0" anchor="t"/>
          <a:lstStyle/>
          <a:p>
            <a:pPr algn="ctr" indent="0" marL="0">
              <a:buNone/>
            </a:pPr>
            <a:r>
              <a:rPr lang="en-US" sz="1300" dirty="0">
                <a:solidFill>
                  <a:schemeClr val="tx1"/>
                </a:solidFill>
              </a:rPr>
              <a:t>ESBL (CTX-M), KPC, NDM, VIM, IMP or OXA-48-like</a:t>
            </a:r>
            <a:endParaRPr lang="en-US" sz="1300" dirty="0"/>
          </a:p>
        </p:txBody>
      </p:sp>
      <p:sp>
        <p:nvSpPr>
          <p:cNvPr id="24" name="arrow 3"/>
          <p:cNvSpPr/>
          <p:nvPr/>
        </p:nvSpPr>
        <p:spPr>
          <a:xfrm>
            <a:off x="8778240" y="3108960"/>
            <a:ext cx="320040" cy="365760"/>
          </a:xfrm>
          <a:prstGeom prst="rightArrow">
            <a:avLst/>
          </a:prstGeom>
          <a:solidFill>
            <a:schemeClr val="accent5"/>
          </a:solidFill>
          <a:ln/>
        </p:spPr>
      </p:sp>
      <p:sp>
        <p:nvSpPr>
          <p:cNvPr id="25" name="step card 4"/>
          <p:cNvSpPr/>
          <p:nvPr/>
        </p:nvSpPr>
        <p:spPr>
          <a:xfrm>
            <a:off x="9189720" y="1828800"/>
            <a:ext cx="2377440" cy="2926080"/>
          </a:xfrm>
          <a:prstGeom prst="roundRect">
            <a:avLst>
              <a:gd name="adj" fmla="val 3077"/>
            </a:avLst>
          </a:prstGeom>
          <a:solidFill>
            <a:schemeClr val="bg2"/>
          </a:solidFill>
          <a:ln/>
        </p:spPr>
      </p:sp>
      <p:sp>
        <p:nvSpPr>
          <p:cNvPr id="26" name="step 4 circle"/>
          <p:cNvSpPr/>
          <p:nvPr/>
        </p:nvSpPr>
        <p:spPr>
          <a:xfrm>
            <a:off x="9921240" y="2103120"/>
            <a:ext cx="914400" cy="914400"/>
          </a:xfrm>
          <a:prstGeom prst="ellipse">
            <a:avLst/>
          </a:prstGeom>
          <a:solidFill>
            <a:schemeClr val="accent2"/>
          </a:solidFill>
          <a:ln/>
        </p:spPr>
      </p:sp>
      <p:pic>
        <p:nvPicPr>
          <p:cNvPr id="27" name="step 4 icon" descr="step 4">    </p:cNvPr>
          <p:cNvPicPr>
            <a:picLocks noChangeAspect="1"/>
          </p:cNvPicPr>
          <p:nvPr/>
        </p:nvPicPr>
        <p:blipFill>
          <a:blip r:embed="rId4"/>
          <a:stretch>
            <a:fillRect/>
          </a:stretch>
        </p:blipFill>
        <p:spPr>
          <a:xfrm>
            <a:off x="10149840" y="2331720"/>
            <a:ext cx="457200" cy="457200"/>
          </a:xfrm>
          <a:prstGeom prst="rect">
            <a:avLst/>
          </a:prstGeom>
        </p:spPr>
      </p:pic>
      <p:sp>
        <p:nvSpPr>
          <p:cNvPr id="28" name="step num 4"/>
          <p:cNvSpPr txBox="1"/>
          <p:nvPr/>
        </p:nvSpPr>
        <p:spPr>
          <a:xfrm>
            <a:off x="9372600" y="3154680"/>
            <a:ext cx="2011680" cy="274320"/>
          </a:xfrm>
          <a:prstGeom prst="rect">
            <a:avLst/>
          </a:prstGeom>
          <a:noFill/>
          <a:ln/>
        </p:spPr>
        <p:txBody>
          <a:bodyPr wrap="square" lIns="0" tIns="0" rIns="0" bIns="0" rtlCol="0" anchor="ctr"/>
          <a:lstStyle/>
          <a:p>
            <a:pPr algn="ctr" indent="0" marL="0">
              <a:buNone/>
            </a:pPr>
            <a:r>
              <a:rPr lang="en-US" sz="1100" b="1" spc="200" kern="0" dirty="0">
                <a:solidFill>
                  <a:schemeClr val="accent6"/>
                </a:solidFill>
              </a:rPr>
              <a:t>STEP 4</a:t>
            </a:r>
            <a:endParaRPr lang="en-US" sz="1100" dirty="0"/>
          </a:p>
        </p:txBody>
      </p:sp>
      <p:sp>
        <p:nvSpPr>
          <p:cNvPr id="29" name="step head 4"/>
          <p:cNvSpPr txBox="1"/>
          <p:nvPr/>
        </p:nvSpPr>
        <p:spPr>
          <a:xfrm>
            <a:off x="9372600" y="3429000"/>
            <a:ext cx="2011680" cy="365760"/>
          </a:xfrm>
          <a:prstGeom prst="rect">
            <a:avLst/>
          </a:prstGeom>
          <a:noFill/>
          <a:ln/>
        </p:spPr>
        <p:txBody>
          <a:bodyPr wrap="square" lIns="0" tIns="0" rIns="0" bIns="0" rtlCol="0" anchor="ctr"/>
          <a:lstStyle/>
          <a:p>
            <a:pPr algn="ctr" indent="0" marL="0">
              <a:buNone/>
            </a:pPr>
            <a:r>
              <a:rPr lang="en-US" sz="1700" b="1" dirty="0">
                <a:solidFill>
                  <a:schemeClr val="tx2"/>
                </a:solidFill>
              </a:rPr>
              <a:t>Targeted therapy</a:t>
            </a:r>
            <a:endParaRPr lang="en-US" sz="1700" dirty="0"/>
          </a:p>
        </p:txBody>
      </p:sp>
      <p:sp>
        <p:nvSpPr>
          <p:cNvPr id="30" name="step body 4"/>
          <p:cNvSpPr txBox="1"/>
          <p:nvPr/>
        </p:nvSpPr>
        <p:spPr>
          <a:xfrm>
            <a:off x="9372600" y="3840480"/>
            <a:ext cx="2011680" cy="822960"/>
          </a:xfrm>
          <a:prstGeom prst="rect">
            <a:avLst/>
          </a:prstGeom>
          <a:noFill/>
          <a:ln/>
        </p:spPr>
        <p:txBody>
          <a:bodyPr wrap="square" lIns="0" tIns="0" rIns="0" bIns="0" rtlCol="0" anchor="t"/>
          <a:lstStyle/>
          <a:p>
            <a:pPr algn="ctr" indent="0" marL="0">
              <a:buNone/>
            </a:pPr>
            <a:r>
              <a:rPr lang="en-US" sz="1300" dirty="0">
                <a:solidFill>
                  <a:schemeClr val="tx1"/>
                </a:solidFill>
              </a:rPr>
              <a:t>Pick the agent active against that specific enzyme</a:t>
            </a:r>
            <a:endParaRPr lang="en-US" sz="1300" dirty="0"/>
          </a:p>
        </p:txBody>
      </p:sp>
      <p:sp>
        <p:nvSpPr>
          <p:cNvPr id="31" name="diagnostics banner"/>
          <p:cNvSpPr/>
          <p:nvPr/>
        </p:nvSpPr>
        <p:spPr>
          <a:xfrm>
            <a:off x="548640" y="5074920"/>
            <a:ext cx="11094415" cy="868680"/>
          </a:xfrm>
          <a:prstGeom prst="roundRect">
            <a:avLst>
              <a:gd name="adj" fmla="val 8421"/>
            </a:avLst>
          </a:prstGeom>
          <a:solidFill>
            <a:schemeClr val="tx2"/>
          </a:solidFill>
          <a:ln/>
        </p:spPr>
      </p:sp>
      <p:sp>
        <p:nvSpPr>
          <p:cNvPr id="32" name="diagnostics banner text"/>
          <p:cNvSpPr txBox="1"/>
          <p:nvPr/>
        </p:nvSpPr>
        <p:spPr>
          <a:xfrm>
            <a:off x="868680" y="5120640"/>
            <a:ext cx="10454335" cy="777240"/>
          </a:xfrm>
          <a:prstGeom prst="rect">
            <a:avLst/>
          </a:prstGeom>
          <a:noFill/>
          <a:ln/>
        </p:spPr>
        <p:txBody>
          <a:bodyPr wrap="square" lIns="0" tIns="0" rIns="0" bIns="0" rtlCol="0" anchor="ctr"/>
          <a:lstStyle/>
          <a:p>
            <a:pPr indent="0" marL="0">
              <a:buNone/>
            </a:pPr>
            <a:r>
              <a:rPr lang="en-US" sz="1600" b="1" dirty="0">
                <a:solidFill>
                  <a:schemeClr val="accent3"/>
                </a:solidFill>
              </a:rPr>
              <a:t>Comparative-effectiveness data: </a:t>
            </a:r>
            <a:pPr indent="0" marL="0">
              <a:buNone/>
            </a:pPr>
            <a:r>
              <a:rPr lang="en-US" sz="1600" dirty="0">
                <a:solidFill>
                  <a:schemeClr val="bg1"/>
                </a:solidFill>
              </a:rPr>
              <a:t>outcomes improve when therapy is matched to the specific β-lactamase, not just the label "resistant".</a:t>
            </a:r>
            <a:endParaRPr lang="en-US" sz="16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200" b="1" spc="300" kern="0" dirty="0">
                <a:solidFill>
                  <a:schemeClr val="accent1"/>
                </a:solidFill>
              </a:rPr>
              <a:t>THE NEW BETA-LACTAM TOOLBOX</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No single new agent covers every threat</a:t>
            </a:r>
            <a:endParaRPr lang="en-US" sz="3200" dirty="0"/>
          </a:p>
        </p:txBody>
      </p:sp>
      <p:graphicFrame>
        <p:nvGraphicFramePr>
          <p:cNvPr id="11" name="agent activity matrix"/>
          <p:cNvGraphicFramePr>
            <a:graphicFrameLocks noGrp="1"/>
          </p:cNvGraphicFramePr>
          <p:nvPr>
            <p:extLst>
              <p:ext uri="{D42A27DB-BD31-4B8C-83A1-F6EECF244321}">
                <p14:modId xmlns:p14="http://schemas.microsoft.com/office/powerpoint/2010/main" val="1579011935"/>
              </p:ext>
            </p:extLst>
          </p:nvPr>
        </p:nvGraphicFramePr>
        <p:xfrm>
          <a:off x="548640" y="1508760"/>
          <a:ext cx="8503920" cy="914400"/>
        </p:xfrm>
        <a:graphic>
          <a:graphicData uri="http://schemas.openxmlformats.org/drawingml/2006/table">
            <a:tbl>
              <a:tblPr/>
              <a:tblGrid>
                <a:gridCol w="2743200"/>
                <a:gridCol w="914400"/>
                <a:gridCol w="777240"/>
                <a:gridCol w="1051560"/>
                <a:gridCol w="960120"/>
                <a:gridCol w="1005840"/>
                <a:gridCol w="1051560"/>
              </a:tblGrid>
              <a:tr h="566928">
                <a:tc>
                  <a:txBody>
                    <a:bodyPr/>
                    <a:lstStyle/>
                    <a:p>
                      <a:pPr indent="0" marL="0">
                        <a:buNone/>
                      </a:pPr>
                      <a:r>
                        <a:rPr lang="en-US" sz="1100" b="1" dirty="0">
                          <a:solidFill>
                            <a:schemeClr val="bg1"/>
                          </a:solidFill>
                          <a:latin typeface="Calibri" pitchFamily="34" charset="0"/>
                          <a:ea typeface="Calibri" pitchFamily="34" charset="-122"/>
                          <a:cs typeface="Calibri" pitchFamily="34" charset="-120"/>
                        </a:rPr>
                        <a:t>Agent (year FDA approved)</a:t>
                      </a:r>
                      <a:endParaRPr lang="en-US" sz="11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CTX-M</a:t>
                      </a:r>
                      <a:endParaRPr lang="en-US" sz="1100" dirty="0">
                        <a:latin typeface="Calibri" charset="0"/>
                        <a:ea typeface="Calibri" charset="0"/>
                        <a:cs typeface="Calibri" charset="0"/>
                      </a:endParaRPr>
                    </a:p>
                    <a:p>
                      <a:pPr algn="ctr" indent="0" marL="0">
                        <a:buNone/>
                      </a:pPr>
                      <a:r>
                        <a:rPr lang="en-US" sz="1100" b="1" dirty="0">
                          <a:solidFill>
                            <a:schemeClr val="bg1"/>
                          </a:solidFill>
                          <a:latin typeface="Calibri" pitchFamily="34" charset="0"/>
                          <a:ea typeface="Calibri" pitchFamily="34" charset="-122"/>
                          <a:cs typeface="Calibri" pitchFamily="34" charset="-120"/>
                        </a:rPr>
                        <a:t>(ESBL)</a:t>
                      </a:r>
                      <a:endParaRPr lang="en-US" sz="11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KPC</a:t>
                      </a:r>
                      <a:endParaRPr lang="en-US" sz="11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NDM / VIM / IMP</a:t>
                      </a:r>
                      <a:endParaRPr lang="en-US" sz="11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OXA-48-like</a:t>
                      </a:r>
                      <a:endParaRPr lang="en-US" sz="11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DTR P. aeruginosa</a:t>
                      </a:r>
                      <a:endParaRPr lang="en-US" sz="11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Carbapenem-resistant A. baumannii</a:t>
                      </a:r>
                      <a:endParaRPr lang="en-US" sz="11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Ceftolozane–tazobactam (2014)</a:t>
                      </a:r>
                      <a:endParaRPr lang="en-US" sz="12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r>
              <a:tr h="384048">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Ceftazidime–avibactam (2015)</a:t>
                      </a:r>
                      <a:endParaRPr lang="en-US" sz="12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r>
              <a:tr h="384048">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Meropenem–vaborbactam (2017)</a:t>
                      </a:r>
                      <a:endParaRPr lang="en-US" sz="12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r>
              <a:tr h="384048">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Cefiderocol (2019)</a:t>
                      </a:r>
                      <a:endParaRPr lang="en-US" sz="12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r>
              <a:tr h="384048">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Imipenem–cilastatin–relebactam (2020)</a:t>
                      </a:r>
                      <a:endParaRPr lang="en-US" sz="12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r>
              <a:tr h="384048">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Sulbactam–durlobactam (2023)</a:t>
                      </a:r>
                      <a:endParaRPr lang="en-US" sz="12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r>
              <a:tr h="384048">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Cefepime–enmetazobactam (2024)</a:t>
                      </a:r>
                      <a:endParaRPr lang="en-US" sz="12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r>
              <a:tr h="384048">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Aztreonam–avibactam (2025)</a:t>
                      </a:r>
                      <a:endParaRPr lang="en-US" sz="12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r>
              <a:tr h="384048">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Cefepime–zidebactam (2026)</a:t>
                      </a:r>
                      <a:endParaRPr lang="en-US" sz="12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45720" marR="4572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r>
            </a:tbl>
          </a:graphicData>
        </a:graphic>
      </p:graphicFrame>
      <p:sp>
        <p:nvSpPr>
          <p:cNvPr id="5" name="legend active"/>
          <p:cNvSpPr/>
          <p:nvPr/>
        </p:nvSpPr>
        <p:spPr>
          <a:xfrm>
            <a:off x="9372600" y="1508760"/>
            <a:ext cx="274320" cy="274320"/>
          </a:xfrm>
          <a:prstGeom prst="roundRect">
            <a:avLst>
              <a:gd name="adj" fmla="val 16667"/>
            </a:avLst>
          </a:prstGeom>
          <a:solidFill>
            <a:schemeClr val="accent1"/>
          </a:solidFill>
          <a:ln/>
        </p:spPr>
      </p:sp>
      <p:sp>
        <p:nvSpPr>
          <p:cNvPr id="6" name="legend active text"/>
          <p:cNvSpPr txBox="1"/>
          <p:nvPr/>
        </p:nvSpPr>
        <p:spPr>
          <a:xfrm>
            <a:off x="9756648" y="1481328"/>
            <a:ext cx="1886407" cy="329184"/>
          </a:xfrm>
          <a:prstGeom prst="rect">
            <a:avLst/>
          </a:prstGeom>
          <a:noFill/>
          <a:ln/>
        </p:spPr>
        <p:txBody>
          <a:bodyPr wrap="square" lIns="0" tIns="0" rIns="0" bIns="0" rtlCol="0" anchor="ctr"/>
          <a:lstStyle/>
          <a:p>
            <a:pPr indent="0" marL="0">
              <a:buNone/>
            </a:pPr>
            <a:r>
              <a:rPr lang="en-US" sz="1200" dirty="0">
                <a:solidFill>
                  <a:schemeClr val="tx1"/>
                </a:solidFill>
              </a:rPr>
              <a:t>Expected in vitro activity</a:t>
            </a:r>
            <a:endParaRPr lang="en-US" sz="1200" dirty="0"/>
          </a:p>
        </p:txBody>
      </p:sp>
      <p:sp>
        <p:nvSpPr>
          <p:cNvPr id="7" name="legend inactive"/>
          <p:cNvSpPr/>
          <p:nvPr/>
        </p:nvSpPr>
        <p:spPr>
          <a:xfrm>
            <a:off x="9372600" y="1920240"/>
            <a:ext cx="274320" cy="274320"/>
          </a:xfrm>
          <a:prstGeom prst="roundRect">
            <a:avLst>
              <a:gd name="adj" fmla="val 16667"/>
            </a:avLst>
          </a:prstGeom>
          <a:solidFill>
            <a:schemeClr val="accent2"/>
          </a:solidFill>
          <a:ln/>
        </p:spPr>
      </p:sp>
      <p:sp>
        <p:nvSpPr>
          <p:cNvPr id="8" name="legend inactive text"/>
          <p:cNvSpPr txBox="1"/>
          <p:nvPr/>
        </p:nvSpPr>
        <p:spPr>
          <a:xfrm>
            <a:off x="9756648" y="1892808"/>
            <a:ext cx="1886407" cy="329184"/>
          </a:xfrm>
          <a:prstGeom prst="rect">
            <a:avLst/>
          </a:prstGeom>
          <a:noFill/>
          <a:ln/>
        </p:spPr>
        <p:txBody>
          <a:bodyPr wrap="square" lIns="0" tIns="0" rIns="0" bIns="0" rtlCol="0" anchor="ctr"/>
          <a:lstStyle/>
          <a:p>
            <a:pPr indent="0" marL="0">
              <a:buNone/>
            </a:pPr>
            <a:r>
              <a:rPr lang="en-US" sz="1200" dirty="0">
                <a:solidFill>
                  <a:schemeClr val="tx1"/>
                </a:solidFill>
              </a:rPr>
              <a:t>No expected activity</a:t>
            </a:r>
            <a:endParaRPr lang="en-US" sz="1200" dirty="0"/>
          </a:p>
        </p:txBody>
      </p:sp>
      <p:sp>
        <p:nvSpPr>
          <p:cNvPr id="9" name="matrix takeaway card"/>
          <p:cNvSpPr/>
          <p:nvPr/>
        </p:nvSpPr>
        <p:spPr>
          <a:xfrm>
            <a:off x="9372600" y="2514600"/>
            <a:ext cx="2270455" cy="3429000"/>
          </a:xfrm>
          <a:prstGeom prst="roundRect">
            <a:avLst>
              <a:gd name="adj" fmla="val 3222"/>
            </a:avLst>
          </a:prstGeom>
          <a:solidFill>
            <a:schemeClr val="bg2"/>
          </a:solidFill>
          <a:ln/>
        </p:spPr>
      </p:sp>
      <p:sp>
        <p:nvSpPr>
          <p:cNvPr id="10" name="matrix takeaways"/>
          <p:cNvSpPr txBox="1"/>
          <p:nvPr/>
        </p:nvSpPr>
        <p:spPr>
          <a:xfrm>
            <a:off x="9555480" y="2651760"/>
            <a:ext cx="1950415" cy="3200400"/>
          </a:xfrm>
          <a:prstGeom prst="rect">
            <a:avLst/>
          </a:prstGeom>
          <a:noFill/>
          <a:ln/>
        </p:spPr>
        <p:txBody>
          <a:bodyPr wrap="square" lIns="0" tIns="0" rIns="0" bIns="0" rtlCol="0" anchor="t"/>
          <a:lstStyle/>
          <a:p>
            <a:pPr indent="0" marL="0">
              <a:spcAft>
                <a:spcPts val="800"/>
              </a:spcAft>
              <a:buNone/>
            </a:pPr>
            <a:r>
              <a:rPr lang="en-US" sz="1600" b="1" dirty="0">
                <a:solidFill>
                  <a:schemeClr val="tx2"/>
                </a:solidFill>
              </a:rPr>
              <a:t>Takeaways</a:t>
            </a:r>
            <a:endParaRPr lang="en-US" sz="1300" dirty="0"/>
          </a:p>
          <a:p>
            <a:pPr marL="342900" indent="-342900">
              <a:spcAft>
                <a:spcPts val="800"/>
              </a:spcAft>
              <a:buSzPct val="100000"/>
              <a:buChar char="•"/>
            </a:pPr>
            <a:r>
              <a:rPr lang="en-US" sz="1300" dirty="0">
                <a:solidFill>
                  <a:schemeClr val="tx1"/>
                </a:solidFill>
              </a:rPr>
              <a:t>Metallo-β-lactamases (NDM, VIM, IMP) defeat most agents</a:t>
            </a:r>
            <a:endParaRPr lang="en-US" sz="1300" dirty="0"/>
          </a:p>
          <a:p>
            <a:pPr marL="342900" indent="-342900">
              <a:spcAft>
                <a:spcPts val="800"/>
              </a:spcAft>
              <a:buSzPct val="100000"/>
              <a:buChar char="•"/>
            </a:pPr>
            <a:r>
              <a:rPr lang="en-US" sz="1300" dirty="0">
                <a:solidFill>
                  <a:schemeClr val="tx1"/>
                </a:solidFill>
              </a:rPr>
              <a:t>Cefiderocol and cefepime–zidebactam span all six; reserve them to preserve activity</a:t>
            </a:r>
            <a:endParaRPr lang="en-US" sz="1300" dirty="0"/>
          </a:p>
          <a:p>
            <a:pPr marL="342900" indent="-342900">
              <a:spcAft>
                <a:spcPts val="800"/>
              </a:spcAft>
              <a:buSzPct val="100000"/>
              <a:buChar char="•"/>
            </a:pPr>
            <a:r>
              <a:rPr lang="en-US" sz="1300" dirty="0">
                <a:solidFill>
                  <a:schemeClr val="tx1"/>
                </a:solidFill>
              </a:rPr>
              <a:t>CRAB needs sulbactam-based therapy</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200" b="1" spc="300" kern="0" dirty="0">
                <a:solidFill>
                  <a:schemeClr val="accent1"/>
                </a:solidFill>
              </a:rPr>
              <a:t>PATHOGEN-DIRECTED THERAPY</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Preferred approaches for the major threats</a:t>
            </a:r>
            <a:endParaRPr lang="en-US" sz="3200" dirty="0"/>
          </a:p>
        </p:txBody>
      </p:sp>
      <p:sp>
        <p:nvSpPr>
          <p:cNvPr id="4" name="ESBL-E card"/>
          <p:cNvSpPr/>
          <p:nvPr/>
        </p:nvSpPr>
        <p:spPr>
          <a:xfrm>
            <a:off x="548640" y="1554480"/>
            <a:ext cx="5349240" cy="1965960"/>
          </a:xfrm>
          <a:prstGeom prst="roundRect">
            <a:avLst>
              <a:gd name="adj" fmla="val 3721"/>
            </a:avLst>
          </a:prstGeom>
          <a:solidFill>
            <a:schemeClr val="bg2"/>
          </a:solidFill>
          <a:ln/>
        </p:spPr>
      </p:sp>
      <p:sp>
        <p:nvSpPr>
          <p:cNvPr id="5" name="ESBL-E pill"/>
          <p:cNvSpPr/>
          <p:nvPr/>
        </p:nvSpPr>
        <p:spPr>
          <a:xfrm>
            <a:off x="777240" y="1783080"/>
            <a:ext cx="1051560" cy="411480"/>
          </a:xfrm>
          <a:prstGeom prst="roundRect">
            <a:avLst>
              <a:gd name="adj" fmla="val 17778"/>
            </a:avLst>
          </a:prstGeom>
          <a:solidFill>
            <a:schemeClr val="accent1"/>
          </a:solidFill>
          <a:ln/>
        </p:spPr>
      </p:sp>
      <p:sp>
        <p:nvSpPr>
          <p:cNvPr id="6" name="ESBL-E pill text"/>
          <p:cNvSpPr txBox="1"/>
          <p:nvPr/>
        </p:nvSpPr>
        <p:spPr>
          <a:xfrm>
            <a:off x="777240" y="1783080"/>
            <a:ext cx="1051560" cy="411480"/>
          </a:xfrm>
          <a:prstGeom prst="rect">
            <a:avLst/>
          </a:prstGeom>
          <a:noFill/>
          <a:ln/>
        </p:spPr>
        <p:txBody>
          <a:bodyPr wrap="square" lIns="0" tIns="0" rIns="0" bIns="0" rtlCol="0" anchor="ctr"/>
          <a:lstStyle/>
          <a:p>
            <a:pPr algn="ctr" indent="0" marL="0">
              <a:buNone/>
            </a:pPr>
            <a:r>
              <a:rPr lang="en-US" sz="1300" b="1" dirty="0">
                <a:solidFill>
                  <a:schemeClr val="bg1"/>
                </a:solidFill>
              </a:rPr>
              <a:t>ESBL-E</a:t>
            </a:r>
            <a:endParaRPr lang="en-US" sz="1300" dirty="0"/>
          </a:p>
        </p:txBody>
      </p:sp>
      <p:sp>
        <p:nvSpPr>
          <p:cNvPr id="7" name="ESBL-E heading"/>
          <p:cNvSpPr txBox="1"/>
          <p:nvPr/>
        </p:nvSpPr>
        <p:spPr>
          <a:xfrm>
            <a:off x="1965960" y="1783080"/>
            <a:ext cx="3749040" cy="411480"/>
          </a:xfrm>
          <a:prstGeom prst="rect">
            <a:avLst/>
          </a:prstGeom>
          <a:noFill/>
          <a:ln/>
        </p:spPr>
        <p:txBody>
          <a:bodyPr wrap="square" lIns="0" tIns="0" rIns="0" bIns="0" rtlCol="0" anchor="ctr"/>
          <a:lstStyle/>
          <a:p>
            <a:pPr indent="0" marL="0">
              <a:buNone/>
            </a:pPr>
            <a:r>
              <a:rPr lang="en-US" sz="1600" b="1" dirty="0">
                <a:solidFill>
                  <a:schemeClr val="tx2"/>
                </a:solidFill>
              </a:rPr>
              <a:t>ESBL-producing Enterobacterales</a:t>
            </a:r>
            <a:endParaRPr lang="en-US" sz="1600" dirty="0"/>
          </a:p>
        </p:txBody>
      </p:sp>
      <p:sp>
        <p:nvSpPr>
          <p:cNvPr id="8" name="ESBL-E bullets"/>
          <p:cNvSpPr txBox="1"/>
          <p:nvPr/>
        </p:nvSpPr>
        <p:spPr>
          <a:xfrm>
            <a:off x="777240" y="2331720"/>
            <a:ext cx="4892040" cy="10515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Uncomplicated cystitis: nitrofurantoin or TMP-SMX</a:t>
            </a:r>
            <a:endParaRPr lang="en-US" sz="1300" dirty="0"/>
          </a:p>
          <a:p>
            <a:pPr marL="342900" indent="-342900">
              <a:spcAft>
                <a:spcPts val="300"/>
              </a:spcAft>
              <a:buSzPct val="100000"/>
              <a:buChar char="•"/>
            </a:pPr>
            <a:r>
              <a:rPr lang="en-US" sz="1300" dirty="0">
                <a:solidFill>
                  <a:schemeClr val="tx1"/>
                </a:solidFill>
              </a:rPr>
              <a:t>Invasive infection: carbapenem first (pip–tazo had higher mortality in an RCT)</a:t>
            </a:r>
            <a:endParaRPr lang="en-US" sz="1300" dirty="0"/>
          </a:p>
          <a:p>
            <a:pPr marL="342900" indent="-342900">
              <a:spcAft>
                <a:spcPts val="300"/>
              </a:spcAft>
              <a:buSzPct val="100000"/>
              <a:buChar char="•"/>
            </a:pPr>
            <a:r>
              <a:rPr lang="en-US" sz="1300" dirty="0">
                <a:solidFill>
                  <a:schemeClr val="tx1"/>
                </a:solidFill>
              </a:rPr>
              <a:t>Step down to oral FQ or TMP-SMX once stable, if susceptible</a:t>
            </a:r>
            <a:endParaRPr lang="en-US" sz="1300" dirty="0"/>
          </a:p>
        </p:txBody>
      </p:sp>
      <p:sp>
        <p:nvSpPr>
          <p:cNvPr id="9" name="CRE card"/>
          <p:cNvSpPr/>
          <p:nvPr/>
        </p:nvSpPr>
        <p:spPr>
          <a:xfrm>
            <a:off x="6291072" y="1554480"/>
            <a:ext cx="5349240" cy="1965960"/>
          </a:xfrm>
          <a:prstGeom prst="roundRect">
            <a:avLst>
              <a:gd name="adj" fmla="val 3721"/>
            </a:avLst>
          </a:prstGeom>
          <a:solidFill>
            <a:schemeClr val="bg2"/>
          </a:solidFill>
          <a:ln/>
        </p:spPr>
      </p:sp>
      <p:sp>
        <p:nvSpPr>
          <p:cNvPr id="10" name="CRE pill"/>
          <p:cNvSpPr/>
          <p:nvPr/>
        </p:nvSpPr>
        <p:spPr>
          <a:xfrm>
            <a:off x="6519672" y="1783080"/>
            <a:ext cx="1051560" cy="411480"/>
          </a:xfrm>
          <a:prstGeom prst="roundRect">
            <a:avLst>
              <a:gd name="adj" fmla="val 17778"/>
            </a:avLst>
          </a:prstGeom>
          <a:solidFill>
            <a:schemeClr val="accent1"/>
          </a:solidFill>
          <a:ln/>
        </p:spPr>
      </p:sp>
      <p:sp>
        <p:nvSpPr>
          <p:cNvPr id="11" name="CRE pill text"/>
          <p:cNvSpPr txBox="1"/>
          <p:nvPr/>
        </p:nvSpPr>
        <p:spPr>
          <a:xfrm>
            <a:off x="6519672" y="1783080"/>
            <a:ext cx="1051560" cy="411480"/>
          </a:xfrm>
          <a:prstGeom prst="rect">
            <a:avLst/>
          </a:prstGeom>
          <a:noFill/>
          <a:ln/>
        </p:spPr>
        <p:txBody>
          <a:bodyPr wrap="square" lIns="0" tIns="0" rIns="0" bIns="0" rtlCol="0" anchor="ctr"/>
          <a:lstStyle/>
          <a:p>
            <a:pPr algn="ctr" indent="0" marL="0">
              <a:buNone/>
            </a:pPr>
            <a:r>
              <a:rPr lang="en-US" sz="1300" b="1" dirty="0">
                <a:solidFill>
                  <a:schemeClr val="bg1"/>
                </a:solidFill>
              </a:rPr>
              <a:t>CRE</a:t>
            </a:r>
            <a:endParaRPr lang="en-US" sz="1300" dirty="0"/>
          </a:p>
        </p:txBody>
      </p:sp>
      <p:sp>
        <p:nvSpPr>
          <p:cNvPr id="12" name="CRE heading"/>
          <p:cNvSpPr txBox="1"/>
          <p:nvPr/>
        </p:nvSpPr>
        <p:spPr>
          <a:xfrm>
            <a:off x="7708392" y="1783080"/>
            <a:ext cx="3749040" cy="411480"/>
          </a:xfrm>
          <a:prstGeom prst="rect">
            <a:avLst/>
          </a:prstGeom>
          <a:noFill/>
          <a:ln/>
        </p:spPr>
        <p:txBody>
          <a:bodyPr wrap="square" lIns="0" tIns="0" rIns="0" bIns="0" rtlCol="0" anchor="ctr"/>
          <a:lstStyle/>
          <a:p>
            <a:pPr indent="0" marL="0">
              <a:buNone/>
            </a:pPr>
            <a:r>
              <a:rPr lang="en-US" sz="1600" b="1" dirty="0">
                <a:solidFill>
                  <a:schemeClr val="tx2"/>
                </a:solidFill>
              </a:rPr>
              <a:t>Carbapenem-resistant Enterobacterales</a:t>
            </a:r>
            <a:endParaRPr lang="en-US" sz="1600" dirty="0"/>
          </a:p>
        </p:txBody>
      </p:sp>
      <p:sp>
        <p:nvSpPr>
          <p:cNvPr id="13" name="CRE bullets"/>
          <p:cNvSpPr txBox="1"/>
          <p:nvPr/>
        </p:nvSpPr>
        <p:spPr>
          <a:xfrm>
            <a:off x="6519672" y="2331720"/>
            <a:ext cx="4892040" cy="10515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KPC: ceftazidime–avibactam or meropenem–vaborbactam</a:t>
            </a:r>
            <a:endParaRPr lang="en-US" sz="1300" dirty="0"/>
          </a:p>
          <a:p>
            <a:pPr marL="342900" indent="-342900">
              <a:spcAft>
                <a:spcPts val="300"/>
              </a:spcAft>
              <a:buSzPct val="100000"/>
              <a:buChar char="•"/>
            </a:pPr>
            <a:r>
              <a:rPr lang="en-US" sz="1300" dirty="0">
                <a:solidFill>
                  <a:schemeClr val="tx1"/>
                </a:solidFill>
              </a:rPr>
              <a:t>NDM: aztreonam–avibactam, cefepime–zidebactam or cefiderocol</a:t>
            </a:r>
            <a:endParaRPr lang="en-US" sz="1300" dirty="0"/>
          </a:p>
          <a:p>
            <a:pPr marL="342900" indent="-342900">
              <a:spcAft>
                <a:spcPts val="300"/>
              </a:spcAft>
              <a:buSzPct val="100000"/>
              <a:buChar char="•"/>
            </a:pPr>
            <a:r>
              <a:rPr lang="en-US" sz="1300" dirty="0">
                <a:solidFill>
                  <a:schemeClr val="tx1"/>
                </a:solidFill>
              </a:rPr>
              <a:t>OXA-48-like: ceftazidime–avibactam</a:t>
            </a:r>
            <a:endParaRPr lang="en-US" sz="1300" dirty="0"/>
          </a:p>
        </p:txBody>
      </p:sp>
      <p:sp>
        <p:nvSpPr>
          <p:cNvPr id="14" name="DTR-PA card"/>
          <p:cNvSpPr/>
          <p:nvPr/>
        </p:nvSpPr>
        <p:spPr>
          <a:xfrm>
            <a:off x="548640" y="3749040"/>
            <a:ext cx="5349240" cy="1965960"/>
          </a:xfrm>
          <a:prstGeom prst="roundRect">
            <a:avLst>
              <a:gd name="adj" fmla="val 3721"/>
            </a:avLst>
          </a:prstGeom>
          <a:solidFill>
            <a:schemeClr val="bg2"/>
          </a:solidFill>
          <a:ln/>
        </p:spPr>
      </p:sp>
      <p:sp>
        <p:nvSpPr>
          <p:cNvPr id="15" name="DTR-PA pill"/>
          <p:cNvSpPr/>
          <p:nvPr/>
        </p:nvSpPr>
        <p:spPr>
          <a:xfrm>
            <a:off x="777240" y="3977640"/>
            <a:ext cx="1051560" cy="411480"/>
          </a:xfrm>
          <a:prstGeom prst="roundRect">
            <a:avLst>
              <a:gd name="adj" fmla="val 17778"/>
            </a:avLst>
          </a:prstGeom>
          <a:solidFill>
            <a:schemeClr val="accent1"/>
          </a:solidFill>
          <a:ln/>
        </p:spPr>
      </p:sp>
      <p:sp>
        <p:nvSpPr>
          <p:cNvPr id="16" name="DTR-PA pill text"/>
          <p:cNvSpPr txBox="1"/>
          <p:nvPr/>
        </p:nvSpPr>
        <p:spPr>
          <a:xfrm>
            <a:off x="777240" y="3977640"/>
            <a:ext cx="1051560" cy="411480"/>
          </a:xfrm>
          <a:prstGeom prst="rect">
            <a:avLst/>
          </a:prstGeom>
          <a:noFill/>
          <a:ln/>
        </p:spPr>
        <p:txBody>
          <a:bodyPr wrap="square" lIns="0" tIns="0" rIns="0" bIns="0" rtlCol="0" anchor="ctr"/>
          <a:lstStyle/>
          <a:p>
            <a:pPr algn="ctr" indent="0" marL="0">
              <a:buNone/>
            </a:pPr>
            <a:r>
              <a:rPr lang="en-US" sz="1300" b="1" dirty="0">
                <a:solidFill>
                  <a:schemeClr val="bg1"/>
                </a:solidFill>
              </a:rPr>
              <a:t>DTR-PA</a:t>
            </a:r>
            <a:endParaRPr lang="en-US" sz="1300" dirty="0"/>
          </a:p>
        </p:txBody>
      </p:sp>
      <p:sp>
        <p:nvSpPr>
          <p:cNvPr id="17" name="DTR-PA heading"/>
          <p:cNvSpPr txBox="1"/>
          <p:nvPr/>
        </p:nvSpPr>
        <p:spPr>
          <a:xfrm>
            <a:off x="1965960" y="3977640"/>
            <a:ext cx="3749040" cy="411480"/>
          </a:xfrm>
          <a:prstGeom prst="rect">
            <a:avLst/>
          </a:prstGeom>
          <a:noFill/>
          <a:ln/>
        </p:spPr>
        <p:txBody>
          <a:bodyPr wrap="square" lIns="0" tIns="0" rIns="0" bIns="0" rtlCol="0" anchor="ctr"/>
          <a:lstStyle/>
          <a:p>
            <a:pPr indent="0" marL="0">
              <a:buNone/>
            </a:pPr>
            <a:r>
              <a:rPr lang="en-US" sz="1600" b="1" dirty="0">
                <a:solidFill>
                  <a:schemeClr val="tx2"/>
                </a:solidFill>
              </a:rPr>
              <a:t>P. aeruginosa with DTR</a:t>
            </a:r>
            <a:endParaRPr lang="en-US" sz="1600" dirty="0"/>
          </a:p>
        </p:txBody>
      </p:sp>
      <p:sp>
        <p:nvSpPr>
          <p:cNvPr id="18" name="DTR-PA bullets"/>
          <p:cNvSpPr txBox="1"/>
          <p:nvPr/>
        </p:nvSpPr>
        <p:spPr>
          <a:xfrm>
            <a:off x="777240" y="4526280"/>
            <a:ext cx="4892040" cy="10515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Ceftolozane–tazobactam or ceftazidime–avibactam</a:t>
            </a:r>
            <a:endParaRPr lang="en-US" sz="1300" dirty="0"/>
          </a:p>
          <a:p>
            <a:pPr marL="342900" indent="-342900">
              <a:spcAft>
                <a:spcPts val="300"/>
              </a:spcAft>
              <a:buSzPct val="100000"/>
              <a:buChar char="•"/>
            </a:pPr>
            <a:r>
              <a:rPr lang="en-US" sz="1300" dirty="0">
                <a:solidFill>
                  <a:schemeClr val="tx1"/>
                </a:solidFill>
              </a:rPr>
              <a:t>Resistance emerges on therapy in ≥20%: retest later isolates</a:t>
            </a:r>
            <a:endParaRPr lang="en-US" sz="1300" dirty="0"/>
          </a:p>
          <a:p>
            <a:pPr marL="342900" indent="-342900">
              <a:spcAft>
                <a:spcPts val="300"/>
              </a:spcAft>
              <a:buSzPct val="100000"/>
              <a:buChar char="•"/>
            </a:pPr>
            <a:r>
              <a:rPr lang="en-US" sz="1300" dirty="0">
                <a:solidFill>
                  <a:schemeClr val="tx1"/>
                </a:solidFill>
              </a:rPr>
              <a:t>Combination therapy has not shown a survival benefit</a:t>
            </a:r>
            <a:endParaRPr lang="en-US" sz="1300" dirty="0"/>
          </a:p>
        </p:txBody>
      </p:sp>
      <p:sp>
        <p:nvSpPr>
          <p:cNvPr id="19" name="CRAB card"/>
          <p:cNvSpPr/>
          <p:nvPr/>
        </p:nvSpPr>
        <p:spPr>
          <a:xfrm>
            <a:off x="6291072" y="3749040"/>
            <a:ext cx="5349240" cy="1965960"/>
          </a:xfrm>
          <a:prstGeom prst="roundRect">
            <a:avLst>
              <a:gd name="adj" fmla="val 3721"/>
            </a:avLst>
          </a:prstGeom>
          <a:solidFill>
            <a:schemeClr val="bg2"/>
          </a:solidFill>
          <a:ln/>
        </p:spPr>
      </p:sp>
      <p:sp>
        <p:nvSpPr>
          <p:cNvPr id="20" name="CRAB pill"/>
          <p:cNvSpPr/>
          <p:nvPr/>
        </p:nvSpPr>
        <p:spPr>
          <a:xfrm>
            <a:off x="6519672" y="3977640"/>
            <a:ext cx="1051560" cy="411480"/>
          </a:xfrm>
          <a:prstGeom prst="roundRect">
            <a:avLst>
              <a:gd name="adj" fmla="val 17778"/>
            </a:avLst>
          </a:prstGeom>
          <a:solidFill>
            <a:schemeClr val="accent2"/>
          </a:solidFill>
          <a:ln/>
        </p:spPr>
      </p:sp>
      <p:sp>
        <p:nvSpPr>
          <p:cNvPr id="21" name="CRAB pill text"/>
          <p:cNvSpPr txBox="1"/>
          <p:nvPr/>
        </p:nvSpPr>
        <p:spPr>
          <a:xfrm>
            <a:off x="6519672" y="3977640"/>
            <a:ext cx="1051560" cy="411480"/>
          </a:xfrm>
          <a:prstGeom prst="rect">
            <a:avLst/>
          </a:prstGeom>
          <a:noFill/>
          <a:ln/>
        </p:spPr>
        <p:txBody>
          <a:bodyPr wrap="square" lIns="0" tIns="0" rIns="0" bIns="0" rtlCol="0" anchor="ctr"/>
          <a:lstStyle/>
          <a:p>
            <a:pPr algn="ctr" indent="0" marL="0">
              <a:buNone/>
            </a:pPr>
            <a:r>
              <a:rPr lang="en-US" sz="1300" b="1" dirty="0">
                <a:solidFill>
                  <a:schemeClr val="bg1"/>
                </a:solidFill>
              </a:rPr>
              <a:t>CRAB</a:t>
            </a:r>
            <a:endParaRPr lang="en-US" sz="1300" dirty="0"/>
          </a:p>
        </p:txBody>
      </p:sp>
      <p:sp>
        <p:nvSpPr>
          <p:cNvPr id="22" name="CRAB heading"/>
          <p:cNvSpPr txBox="1"/>
          <p:nvPr/>
        </p:nvSpPr>
        <p:spPr>
          <a:xfrm>
            <a:off x="7708392" y="3977640"/>
            <a:ext cx="3749040" cy="411480"/>
          </a:xfrm>
          <a:prstGeom prst="rect">
            <a:avLst/>
          </a:prstGeom>
          <a:noFill/>
          <a:ln/>
        </p:spPr>
        <p:txBody>
          <a:bodyPr wrap="square" lIns="0" tIns="0" rIns="0" bIns="0" rtlCol="0" anchor="ctr"/>
          <a:lstStyle/>
          <a:p>
            <a:pPr indent="0" marL="0">
              <a:buNone/>
            </a:pPr>
            <a:r>
              <a:rPr lang="en-US" sz="1600" b="1" dirty="0">
                <a:solidFill>
                  <a:schemeClr val="tx2"/>
                </a:solidFill>
              </a:rPr>
              <a:t>Carbapenem-resistant A. baumannii</a:t>
            </a:r>
            <a:endParaRPr lang="en-US" sz="1600" dirty="0"/>
          </a:p>
        </p:txBody>
      </p:sp>
      <p:sp>
        <p:nvSpPr>
          <p:cNvPr id="23" name="CRAB bullets"/>
          <p:cNvSpPr txBox="1"/>
          <p:nvPr/>
        </p:nvSpPr>
        <p:spPr>
          <a:xfrm>
            <a:off x="6519672" y="4526280"/>
            <a:ext cx="4892040" cy="10515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Sulbactam–durlobactam + imipenem or meropenem</a:t>
            </a:r>
            <a:endParaRPr lang="en-US" sz="1300" dirty="0"/>
          </a:p>
          <a:p>
            <a:pPr marL="342900" indent="-342900">
              <a:spcAft>
                <a:spcPts val="300"/>
              </a:spcAft>
              <a:buSzPct val="100000"/>
              <a:buChar char="•"/>
            </a:pPr>
            <a:r>
              <a:rPr lang="en-US" sz="1300" dirty="0">
                <a:solidFill>
                  <a:schemeClr val="tx1"/>
                </a:solidFill>
              </a:rPr>
              <a:t>Alternative: high-dose ampicillin–sulbactam (≥9 g/day sulbactam) plus another agent</a:t>
            </a:r>
            <a:endParaRPr lang="en-US" sz="1300" dirty="0"/>
          </a:p>
          <a:p>
            <a:pPr marL="342900" indent="-342900">
              <a:spcAft>
                <a:spcPts val="300"/>
              </a:spcAft>
              <a:buSzPct val="100000"/>
              <a:buChar char="•"/>
            </a:pPr>
            <a:r>
              <a:rPr lang="en-US" sz="1300" dirty="0">
                <a:solidFill>
                  <a:schemeClr val="tx1"/>
                </a:solidFill>
              </a:rPr>
              <a:t>&gt;40% death in ICU pneumonia or bacteremia</a:t>
            </a:r>
            <a:endParaRPr lang="en-US" sz="1300" dirty="0"/>
          </a:p>
        </p:txBody>
      </p:sp>
      <p:sp>
        <p:nvSpPr>
          <p:cNvPr id="24" name="treatment disclaimer"/>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100" i="1" dirty="0">
                <a:solidFill>
                  <a:schemeClr val="accent6"/>
                </a:solidFill>
              </a:rPr>
              <a:t>Summary only. Doses and full options: IDSA 2026 guidance and Table 2 of the review. Always follow local guidelines and susceptibility results.</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200" b="1" spc="300" kern="0" dirty="0">
                <a:solidFill>
                  <a:schemeClr val="accent1"/>
                </a:solidFill>
              </a:rPr>
              <a:t>CHALLENGES IN ANTIBIOTIC DEVELOPMENT</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The pipeline is breaking, but it can be fixed</a:t>
            </a:r>
            <a:endParaRPr lang="en-US" sz="3200" dirty="0"/>
          </a:p>
        </p:txBody>
      </p:sp>
      <p:sp>
        <p:nvSpPr>
          <p:cNvPr id="4" name="problems card"/>
          <p:cNvSpPr/>
          <p:nvPr/>
        </p:nvSpPr>
        <p:spPr>
          <a:xfrm>
            <a:off x="548640" y="1645920"/>
            <a:ext cx="5318608" cy="4251960"/>
          </a:xfrm>
          <a:prstGeom prst="roundRect">
            <a:avLst>
              <a:gd name="adj" fmla="val 1720"/>
            </a:avLst>
          </a:prstGeom>
          <a:solidFill>
            <a:schemeClr val="bg2"/>
          </a:solidFill>
          <a:ln/>
        </p:spPr>
      </p:sp>
      <p:sp>
        <p:nvSpPr>
          <p:cNvPr id="5" name="problem circle"/>
          <p:cNvSpPr/>
          <p:nvPr/>
        </p:nvSpPr>
        <p:spPr>
          <a:xfrm>
            <a:off x="822960" y="1920240"/>
            <a:ext cx="731520" cy="731520"/>
          </a:xfrm>
          <a:prstGeom prst="ellipse">
            <a:avLst/>
          </a:prstGeom>
          <a:solidFill>
            <a:schemeClr val="accent2"/>
          </a:solidFill>
          <a:ln/>
        </p:spPr>
      </p:sp>
      <p:pic>
        <p:nvPicPr>
          <p:cNvPr id="6" name="problem icon" descr="problem">    </p:cNvPr>
          <p:cNvPicPr>
            <a:picLocks noChangeAspect="1"/>
          </p:cNvPicPr>
          <p:nvPr/>
        </p:nvPicPr>
        <p:blipFill>
          <a:blip r:embed="rId1"/>
          <a:stretch>
            <a:fillRect/>
          </a:stretch>
        </p:blipFill>
        <p:spPr>
          <a:xfrm>
            <a:off x="1005840" y="2103120"/>
            <a:ext cx="365760" cy="365760"/>
          </a:xfrm>
          <a:prstGeom prst="rect">
            <a:avLst/>
          </a:prstGeom>
        </p:spPr>
      </p:pic>
      <p:sp>
        <p:nvSpPr>
          <p:cNvPr id="7" name="problems heading"/>
          <p:cNvSpPr txBox="1"/>
          <p:nvPr/>
        </p:nvSpPr>
        <p:spPr>
          <a:xfrm>
            <a:off x="1737360" y="2011680"/>
            <a:ext cx="3947008" cy="548640"/>
          </a:xfrm>
          <a:prstGeom prst="rect">
            <a:avLst/>
          </a:prstGeom>
          <a:noFill/>
          <a:ln/>
        </p:spPr>
        <p:txBody>
          <a:bodyPr wrap="square" lIns="0" tIns="0" rIns="0" bIns="0" rtlCol="0" anchor="ctr"/>
          <a:lstStyle/>
          <a:p>
            <a:pPr indent="0" marL="0">
              <a:buNone/>
            </a:pPr>
            <a:r>
              <a:rPr lang="en-US" sz="2000" b="1" dirty="0">
                <a:solidFill>
                  <a:schemeClr val="tx2"/>
                </a:solidFill>
              </a:rPr>
              <a:t>Why companies are leaving</a:t>
            </a:r>
            <a:endParaRPr lang="en-US" sz="2000" dirty="0"/>
          </a:p>
        </p:txBody>
      </p:sp>
      <p:sp>
        <p:nvSpPr>
          <p:cNvPr id="8" name="problems list"/>
          <p:cNvSpPr txBox="1"/>
          <p:nvPr/>
        </p:nvSpPr>
        <p:spPr>
          <a:xfrm>
            <a:off x="822960" y="2880360"/>
            <a:ext cx="4769968" cy="28803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Unpredictable market returns have pushed many pharmaceutical companies out</a:t>
            </a:r>
            <a:endParaRPr lang="en-US" sz="1500" dirty="0"/>
          </a:p>
          <a:p>
            <a:pPr marL="342900" indent="-342900">
              <a:spcAft>
                <a:spcPts val="1000"/>
              </a:spcAft>
              <a:buSzPct val="100000"/>
              <a:buChar char="•"/>
            </a:pPr>
            <a:r>
              <a:rPr lang="en-US" sz="1500" dirty="0">
                <a:solidFill>
                  <a:schemeClr val="tx1"/>
                </a:solidFill>
              </a:rPr>
              <a:t>Eroded investor confidence and a shrinking drug-development workforce</a:t>
            </a:r>
            <a:endParaRPr lang="en-US" sz="1500" dirty="0"/>
          </a:p>
          <a:p>
            <a:pPr marL="342900" indent="-342900">
              <a:spcAft>
                <a:spcPts val="1000"/>
              </a:spcAft>
              <a:buSzPct val="100000"/>
              <a:buChar char="•"/>
            </a:pPr>
            <a:r>
              <a:rPr lang="en-US" sz="1500" dirty="0">
                <a:solidFill>
                  <a:schemeClr val="tx1"/>
                </a:solidFill>
              </a:rPr>
              <a:t>Antibiotics are used in short courses, so chronic-disease drugs offer bigger, steadier markets</a:t>
            </a:r>
            <a:endParaRPr lang="en-US" sz="1500" dirty="0"/>
          </a:p>
          <a:p>
            <a:pPr marL="342900" indent="-342900">
              <a:spcAft>
                <a:spcPts val="1000"/>
              </a:spcAft>
              <a:buSzPct val="100000"/>
              <a:buChar char="•"/>
            </a:pPr>
            <a:r>
              <a:rPr lang="en-US" sz="1500" dirty="0">
                <a:solidFill>
                  <a:schemeClr val="tx1"/>
                </a:solidFill>
              </a:rPr>
              <a:t>Contracting public-health infrastructure and fragmented funding</a:t>
            </a:r>
            <a:endParaRPr lang="en-US" sz="1500" dirty="0"/>
          </a:p>
        </p:txBody>
      </p:sp>
      <p:sp>
        <p:nvSpPr>
          <p:cNvPr id="9" name="solutions card"/>
          <p:cNvSpPr/>
          <p:nvPr/>
        </p:nvSpPr>
        <p:spPr>
          <a:xfrm>
            <a:off x="6324448" y="1645920"/>
            <a:ext cx="5318608" cy="4251960"/>
          </a:xfrm>
          <a:prstGeom prst="roundRect">
            <a:avLst>
              <a:gd name="adj" fmla="val 1720"/>
            </a:avLst>
          </a:prstGeom>
          <a:solidFill>
            <a:schemeClr val="tx2"/>
          </a:solidFill>
          <a:ln/>
        </p:spPr>
      </p:sp>
      <p:sp>
        <p:nvSpPr>
          <p:cNvPr id="10" name="solution circle"/>
          <p:cNvSpPr/>
          <p:nvPr/>
        </p:nvSpPr>
        <p:spPr>
          <a:xfrm>
            <a:off x="6598768" y="1920240"/>
            <a:ext cx="731520" cy="731520"/>
          </a:xfrm>
          <a:prstGeom prst="ellipse">
            <a:avLst/>
          </a:prstGeom>
          <a:solidFill>
            <a:schemeClr val="accent1"/>
          </a:solidFill>
          <a:ln/>
        </p:spPr>
      </p:sp>
      <p:pic>
        <p:nvPicPr>
          <p:cNvPr id="11" name="solution icon" descr="solution">    </p:cNvPr>
          <p:cNvPicPr>
            <a:picLocks noChangeAspect="1"/>
          </p:cNvPicPr>
          <p:nvPr/>
        </p:nvPicPr>
        <p:blipFill>
          <a:blip r:embed="rId2"/>
          <a:stretch>
            <a:fillRect/>
          </a:stretch>
        </p:blipFill>
        <p:spPr>
          <a:xfrm>
            <a:off x="6781648" y="2103120"/>
            <a:ext cx="365760" cy="365760"/>
          </a:xfrm>
          <a:prstGeom prst="rect">
            <a:avLst/>
          </a:prstGeom>
        </p:spPr>
      </p:pic>
      <p:sp>
        <p:nvSpPr>
          <p:cNvPr id="12" name="solutions heading"/>
          <p:cNvSpPr txBox="1"/>
          <p:nvPr/>
        </p:nvSpPr>
        <p:spPr>
          <a:xfrm>
            <a:off x="7513168" y="2011680"/>
            <a:ext cx="3947008" cy="548640"/>
          </a:xfrm>
          <a:prstGeom prst="rect">
            <a:avLst/>
          </a:prstGeom>
          <a:noFill/>
          <a:ln/>
        </p:spPr>
        <p:txBody>
          <a:bodyPr wrap="square" lIns="0" tIns="0" rIns="0" bIns="0" rtlCol="0" anchor="ctr"/>
          <a:lstStyle/>
          <a:p>
            <a:pPr indent="0" marL="0">
              <a:buNone/>
            </a:pPr>
            <a:r>
              <a:rPr lang="en-US" sz="2000" b="1" dirty="0">
                <a:solidFill>
                  <a:schemeClr val="bg1"/>
                </a:solidFill>
              </a:rPr>
              <a:t>What would reverse the decline</a:t>
            </a:r>
            <a:endParaRPr lang="en-US" sz="2000" dirty="0"/>
          </a:p>
        </p:txBody>
      </p:sp>
      <p:sp>
        <p:nvSpPr>
          <p:cNvPr id="13" name="solutions list"/>
          <p:cNvSpPr txBox="1"/>
          <p:nvPr/>
        </p:nvSpPr>
        <p:spPr>
          <a:xfrm>
            <a:off x="6598768" y="2880360"/>
            <a:ext cx="4769968" cy="28803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Rebuild research and manufacturing capacity</a:t>
            </a:r>
            <a:endParaRPr lang="en-US" sz="1500" dirty="0"/>
          </a:p>
          <a:p>
            <a:pPr marL="342900" indent="-342900">
              <a:spcAft>
                <a:spcPts val="1000"/>
              </a:spcAft>
              <a:buSzPct val="100000"/>
              <a:buChar char="•"/>
            </a:pPr>
            <a:r>
              <a:rPr lang="en-US" sz="1500" dirty="0">
                <a:solidFill>
                  <a:schemeClr val="bg1"/>
                </a:solidFill>
              </a:rPr>
              <a:t>International trial networks that evaluate new agents rapidly</a:t>
            </a:r>
            <a:endParaRPr lang="en-US" sz="1500" dirty="0"/>
          </a:p>
          <a:p>
            <a:pPr marL="342900" indent="-342900">
              <a:spcAft>
                <a:spcPts val="1000"/>
              </a:spcAft>
              <a:buSzPct val="100000"/>
              <a:buChar char="•"/>
            </a:pPr>
            <a:r>
              <a:rPr lang="en-US" sz="1500" dirty="0">
                <a:solidFill>
                  <a:schemeClr val="bg1"/>
                </a:solidFill>
              </a:rPr>
              <a:t>Economic models that decouple revenue from volume: subscriptions, pull incentives, pooled procurement</a:t>
            </a:r>
            <a:endParaRPr lang="en-US" sz="1500" dirty="0"/>
          </a:p>
          <a:p>
            <a:pPr marL="342900" indent="-342900">
              <a:spcAft>
                <a:spcPts val="1000"/>
              </a:spcAft>
              <a:buSzPct val="100000"/>
              <a:buChar char="•"/>
            </a:pPr>
            <a:r>
              <a:rPr lang="en-US" sz="1500" dirty="0">
                <a:solidFill>
                  <a:schemeClr val="bg1"/>
                </a:solidFill>
              </a:rPr>
              <a:t>Reward innovation while protecting stewardship and equitable access</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200" b="1" spc="300" kern="0" dirty="0">
                <a:solidFill>
                  <a:schemeClr val="accent1"/>
                </a:solidFill>
              </a:rPr>
              <a:t>BEYOND ANTIBIOTICS</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Promising non-antibiotic strategies</a:t>
            </a:r>
            <a:endParaRPr lang="en-US" sz="3200" dirty="0"/>
          </a:p>
        </p:txBody>
      </p:sp>
      <p:sp>
        <p:nvSpPr>
          <p:cNvPr id="4" name="phage card"/>
          <p:cNvSpPr/>
          <p:nvPr/>
        </p:nvSpPr>
        <p:spPr>
          <a:xfrm>
            <a:off x="548640" y="1645920"/>
            <a:ext cx="4206240" cy="4297680"/>
          </a:xfrm>
          <a:prstGeom prst="roundRect">
            <a:avLst>
              <a:gd name="adj" fmla="val 1739"/>
            </a:avLst>
          </a:prstGeom>
          <a:solidFill>
            <a:schemeClr val="tx2"/>
          </a:solidFill>
          <a:ln/>
          <a:effectLst>
            <a:outerShdw sx="100000" sy="100000" kx="0" ky="0" algn="bl" rotWithShape="0" blurRad="101600" dist="25400" dir="5400000">
              <a:srgbClr val="000000">
                <a:alpha val="12000"/>
              </a:srgbClr>
            </a:outerShdw>
          </a:effectLst>
        </p:spPr>
      </p:sp>
      <p:sp>
        <p:nvSpPr>
          <p:cNvPr id="5" name="phage circle"/>
          <p:cNvSpPr/>
          <p:nvPr/>
        </p:nvSpPr>
        <p:spPr>
          <a:xfrm>
            <a:off x="868680" y="1965960"/>
            <a:ext cx="914400" cy="914400"/>
          </a:xfrm>
          <a:prstGeom prst="ellipse">
            <a:avLst/>
          </a:prstGeom>
          <a:solidFill>
            <a:schemeClr val="accent3"/>
          </a:solidFill>
          <a:ln/>
        </p:spPr>
      </p:sp>
      <p:pic>
        <p:nvPicPr>
          <p:cNvPr id="6" name="phage icon" descr="phage">    </p:cNvPr>
          <p:cNvPicPr>
            <a:picLocks noChangeAspect="1"/>
          </p:cNvPicPr>
          <p:nvPr/>
        </p:nvPicPr>
        <p:blipFill>
          <a:blip r:embed="rId1"/>
          <a:stretch>
            <a:fillRect/>
          </a:stretch>
        </p:blipFill>
        <p:spPr>
          <a:xfrm>
            <a:off x="1097280" y="2194560"/>
            <a:ext cx="457200" cy="457200"/>
          </a:xfrm>
          <a:prstGeom prst="rect">
            <a:avLst/>
          </a:prstGeom>
        </p:spPr>
      </p:pic>
      <p:sp>
        <p:nvSpPr>
          <p:cNvPr id="7" name="phage title"/>
          <p:cNvSpPr txBox="1"/>
          <p:nvPr/>
        </p:nvSpPr>
        <p:spPr>
          <a:xfrm>
            <a:off x="868680" y="3063240"/>
            <a:ext cx="3566160" cy="4572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Phage therapy</a:t>
            </a:r>
            <a:endParaRPr lang="en-US" sz="2400" dirty="0"/>
          </a:p>
        </p:txBody>
      </p:sp>
      <p:sp>
        <p:nvSpPr>
          <p:cNvPr id="8" name="phage kicker"/>
          <p:cNvSpPr txBox="1"/>
          <p:nvPr/>
        </p:nvSpPr>
        <p:spPr>
          <a:xfrm>
            <a:off x="868680" y="3520440"/>
            <a:ext cx="3566160" cy="320040"/>
          </a:xfrm>
          <a:prstGeom prst="rect">
            <a:avLst/>
          </a:prstGeom>
          <a:noFill/>
          <a:ln/>
        </p:spPr>
        <p:txBody>
          <a:bodyPr wrap="square" lIns="0" tIns="0" rIns="0" bIns="0" rtlCol="0" anchor="ctr"/>
          <a:lstStyle/>
          <a:p>
            <a:pPr indent="0" marL="0">
              <a:buNone/>
            </a:pPr>
            <a:r>
              <a:rPr lang="en-US" sz="1300" b="1" dirty="0">
                <a:solidFill>
                  <a:schemeClr val="accent3"/>
                </a:solidFill>
              </a:rPr>
              <a:t>Most progress so far</a:t>
            </a:r>
            <a:endParaRPr lang="en-US" sz="1300" dirty="0"/>
          </a:p>
        </p:txBody>
      </p:sp>
      <p:sp>
        <p:nvSpPr>
          <p:cNvPr id="9" name="phage body"/>
          <p:cNvSpPr txBox="1"/>
          <p:nvPr/>
        </p:nvSpPr>
        <p:spPr>
          <a:xfrm>
            <a:off x="868680" y="3931920"/>
            <a:ext cx="3566160" cy="1874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Species-specific viruses that infect and lyse bacteria</a:t>
            </a:r>
            <a:endParaRPr lang="en-US" sz="1400" dirty="0"/>
          </a:p>
          <a:p>
            <a:pPr marL="342900" indent="-342900">
              <a:spcAft>
                <a:spcPts val="600"/>
              </a:spcAft>
              <a:buSzPct val="100000"/>
              <a:buChar char="•"/>
            </a:pPr>
            <a:r>
              <a:rPr lang="en-US" sz="1400" dirty="0">
                <a:solidFill>
                  <a:schemeClr val="bg1"/>
                </a:solidFill>
              </a:rPr>
              <a:t>Active against pan-susceptible and highly resistant isolates alike</a:t>
            </a:r>
            <a:endParaRPr lang="en-US" sz="1400" dirty="0"/>
          </a:p>
          <a:p>
            <a:pPr marL="342900" indent="-342900">
              <a:spcAft>
                <a:spcPts val="600"/>
              </a:spcAft>
              <a:buSzPct val="100000"/>
              <a:buChar char="•"/>
            </a:pPr>
            <a:r>
              <a:rPr lang="en-US" sz="1400" dirty="0">
                <a:solidFill>
                  <a:schemeClr val="bg1"/>
                </a:solidFill>
              </a:rPr>
              <a:t>Reassuring safety so far; clinical trials underway</a:t>
            </a:r>
            <a:endParaRPr lang="en-US" sz="1400" dirty="0"/>
          </a:p>
        </p:txBody>
      </p:sp>
      <p:sp>
        <p:nvSpPr>
          <p:cNvPr id="10" name="alt card 1"/>
          <p:cNvSpPr/>
          <p:nvPr/>
        </p:nvSpPr>
        <p:spPr>
          <a:xfrm>
            <a:off x="5120640" y="1645920"/>
            <a:ext cx="3124048" cy="1280160"/>
          </a:xfrm>
          <a:prstGeom prst="roundRect">
            <a:avLst>
              <a:gd name="adj" fmla="val 5714"/>
            </a:avLst>
          </a:prstGeom>
          <a:solidFill>
            <a:schemeClr val="bg2"/>
          </a:solidFill>
          <a:ln/>
        </p:spPr>
      </p:sp>
      <p:sp>
        <p:nvSpPr>
          <p:cNvPr id="11" name="alt 1 circle"/>
          <p:cNvSpPr/>
          <p:nvPr/>
        </p:nvSpPr>
        <p:spPr>
          <a:xfrm>
            <a:off x="5303520" y="1892808"/>
            <a:ext cx="685800" cy="685800"/>
          </a:xfrm>
          <a:prstGeom prst="ellipse">
            <a:avLst/>
          </a:prstGeom>
          <a:solidFill>
            <a:schemeClr val="accent1"/>
          </a:solidFill>
          <a:ln/>
        </p:spPr>
      </p:sp>
      <p:pic>
        <p:nvPicPr>
          <p:cNvPr id="12" name="alt 1 icon" descr="alt 1">    </p:cNvPr>
          <p:cNvPicPr>
            <a:picLocks noChangeAspect="1"/>
          </p:cNvPicPr>
          <p:nvPr/>
        </p:nvPicPr>
        <p:blipFill>
          <a:blip r:embed="rId2"/>
          <a:stretch>
            <a:fillRect/>
          </a:stretch>
        </p:blipFill>
        <p:spPr>
          <a:xfrm>
            <a:off x="5474970" y="2064258"/>
            <a:ext cx="342900" cy="342900"/>
          </a:xfrm>
          <a:prstGeom prst="rect">
            <a:avLst/>
          </a:prstGeom>
        </p:spPr>
      </p:pic>
      <p:sp>
        <p:nvSpPr>
          <p:cNvPr id="13" name="alt text 1"/>
          <p:cNvSpPr txBox="1"/>
          <p:nvPr/>
        </p:nvSpPr>
        <p:spPr>
          <a:xfrm>
            <a:off x="6126480" y="1783080"/>
            <a:ext cx="1981048" cy="1005840"/>
          </a:xfrm>
          <a:prstGeom prst="rect">
            <a:avLst/>
          </a:prstGeom>
          <a:noFill/>
          <a:ln/>
        </p:spPr>
        <p:txBody>
          <a:bodyPr wrap="square" lIns="0" tIns="0" rIns="0" bIns="0" rtlCol="0" anchor="ctr"/>
          <a:lstStyle/>
          <a:p>
            <a:pPr indent="0" marL="0">
              <a:buNone/>
            </a:pPr>
            <a:r>
              <a:rPr lang="en-US" sz="1500" b="1" dirty="0">
                <a:solidFill>
                  <a:schemeClr val="tx2"/>
                </a:solidFill>
              </a:rPr>
              <a:t>Monoclonal antibodies</a:t>
            </a:r>
            <a:endParaRPr lang="en-US" sz="1500" dirty="0"/>
          </a:p>
          <a:p>
            <a:pPr indent="0" marL="0">
              <a:buNone/>
            </a:pPr>
            <a:r>
              <a:rPr lang="en-US" sz="1300" dirty="0">
                <a:solidFill>
                  <a:schemeClr val="tx1"/>
                </a:solidFill>
              </a:rPr>
              <a:t>Target surface components such as endotoxin and capsule</a:t>
            </a:r>
            <a:endParaRPr lang="en-US" sz="1500" dirty="0"/>
          </a:p>
        </p:txBody>
      </p:sp>
      <p:sp>
        <p:nvSpPr>
          <p:cNvPr id="14" name="alt card 2"/>
          <p:cNvSpPr/>
          <p:nvPr/>
        </p:nvSpPr>
        <p:spPr>
          <a:xfrm>
            <a:off x="8519008" y="1645920"/>
            <a:ext cx="3124048" cy="1280160"/>
          </a:xfrm>
          <a:prstGeom prst="roundRect">
            <a:avLst>
              <a:gd name="adj" fmla="val 5714"/>
            </a:avLst>
          </a:prstGeom>
          <a:solidFill>
            <a:schemeClr val="bg2"/>
          </a:solidFill>
          <a:ln/>
        </p:spPr>
      </p:sp>
      <p:sp>
        <p:nvSpPr>
          <p:cNvPr id="15" name="alt 2 circle"/>
          <p:cNvSpPr/>
          <p:nvPr/>
        </p:nvSpPr>
        <p:spPr>
          <a:xfrm>
            <a:off x="8701888" y="1892808"/>
            <a:ext cx="685800" cy="685800"/>
          </a:xfrm>
          <a:prstGeom prst="ellipse">
            <a:avLst/>
          </a:prstGeom>
          <a:solidFill>
            <a:schemeClr val="accent1"/>
          </a:solidFill>
          <a:ln/>
        </p:spPr>
      </p:sp>
      <p:pic>
        <p:nvPicPr>
          <p:cNvPr id="16" name="alt 2 icon" descr="alt 2">    </p:cNvPr>
          <p:cNvPicPr>
            <a:picLocks noChangeAspect="1"/>
          </p:cNvPicPr>
          <p:nvPr/>
        </p:nvPicPr>
        <p:blipFill>
          <a:blip r:embed="rId3"/>
          <a:stretch>
            <a:fillRect/>
          </a:stretch>
        </p:blipFill>
        <p:spPr>
          <a:xfrm>
            <a:off x="8873338" y="2064258"/>
            <a:ext cx="342900" cy="342900"/>
          </a:xfrm>
          <a:prstGeom prst="rect">
            <a:avLst/>
          </a:prstGeom>
        </p:spPr>
      </p:pic>
      <p:sp>
        <p:nvSpPr>
          <p:cNvPr id="17" name="alt text 2"/>
          <p:cNvSpPr txBox="1"/>
          <p:nvPr/>
        </p:nvSpPr>
        <p:spPr>
          <a:xfrm>
            <a:off x="9524848" y="1783080"/>
            <a:ext cx="1981048" cy="1005840"/>
          </a:xfrm>
          <a:prstGeom prst="rect">
            <a:avLst/>
          </a:prstGeom>
          <a:noFill/>
          <a:ln/>
        </p:spPr>
        <p:txBody>
          <a:bodyPr wrap="square" lIns="0" tIns="0" rIns="0" bIns="0" rtlCol="0" anchor="ctr"/>
          <a:lstStyle/>
          <a:p>
            <a:pPr indent="0" marL="0">
              <a:buNone/>
            </a:pPr>
            <a:r>
              <a:rPr lang="en-US" sz="1500" b="1" dirty="0">
                <a:solidFill>
                  <a:schemeClr val="tx2"/>
                </a:solidFill>
              </a:rPr>
              <a:t>Antivirulence agents</a:t>
            </a:r>
            <a:endParaRPr lang="en-US" sz="1500" dirty="0"/>
          </a:p>
          <a:p>
            <a:pPr indent="0" marL="0">
              <a:buNone/>
            </a:pPr>
            <a:r>
              <a:rPr lang="en-US" sz="1300" dirty="0">
                <a:solidFill>
                  <a:schemeClr val="tx1"/>
                </a:solidFill>
              </a:rPr>
              <a:t>Disarm pathogens rather than kill them</a:t>
            </a:r>
            <a:endParaRPr lang="en-US" sz="1500" dirty="0"/>
          </a:p>
        </p:txBody>
      </p:sp>
      <p:sp>
        <p:nvSpPr>
          <p:cNvPr id="18" name="alt card 3"/>
          <p:cNvSpPr/>
          <p:nvPr/>
        </p:nvSpPr>
        <p:spPr>
          <a:xfrm>
            <a:off x="5120640" y="3154680"/>
            <a:ext cx="3124048" cy="1280160"/>
          </a:xfrm>
          <a:prstGeom prst="roundRect">
            <a:avLst>
              <a:gd name="adj" fmla="val 5714"/>
            </a:avLst>
          </a:prstGeom>
          <a:solidFill>
            <a:schemeClr val="bg2"/>
          </a:solidFill>
          <a:ln/>
        </p:spPr>
      </p:sp>
      <p:sp>
        <p:nvSpPr>
          <p:cNvPr id="19" name="alt 3 circle"/>
          <p:cNvSpPr/>
          <p:nvPr/>
        </p:nvSpPr>
        <p:spPr>
          <a:xfrm>
            <a:off x="5303520" y="3401568"/>
            <a:ext cx="685800" cy="685800"/>
          </a:xfrm>
          <a:prstGeom prst="ellipse">
            <a:avLst/>
          </a:prstGeom>
          <a:solidFill>
            <a:schemeClr val="accent1"/>
          </a:solidFill>
          <a:ln/>
        </p:spPr>
      </p:sp>
      <p:pic>
        <p:nvPicPr>
          <p:cNvPr id="20" name="alt 3 icon" descr="alt 3">    </p:cNvPr>
          <p:cNvPicPr>
            <a:picLocks noChangeAspect="1"/>
          </p:cNvPicPr>
          <p:nvPr/>
        </p:nvPicPr>
        <p:blipFill>
          <a:blip r:embed="rId4"/>
          <a:stretch>
            <a:fillRect/>
          </a:stretch>
        </p:blipFill>
        <p:spPr>
          <a:xfrm>
            <a:off x="5474970" y="3573018"/>
            <a:ext cx="342900" cy="342900"/>
          </a:xfrm>
          <a:prstGeom prst="rect">
            <a:avLst/>
          </a:prstGeom>
        </p:spPr>
      </p:pic>
      <p:sp>
        <p:nvSpPr>
          <p:cNvPr id="21" name="alt text 3"/>
          <p:cNvSpPr txBox="1"/>
          <p:nvPr/>
        </p:nvSpPr>
        <p:spPr>
          <a:xfrm>
            <a:off x="6126480" y="3291840"/>
            <a:ext cx="1981048" cy="1005840"/>
          </a:xfrm>
          <a:prstGeom prst="rect">
            <a:avLst/>
          </a:prstGeom>
          <a:noFill/>
          <a:ln/>
        </p:spPr>
        <p:txBody>
          <a:bodyPr wrap="square" lIns="0" tIns="0" rIns="0" bIns="0" rtlCol="0" anchor="ctr"/>
          <a:lstStyle/>
          <a:p>
            <a:pPr indent="0" marL="0">
              <a:buNone/>
            </a:pPr>
            <a:r>
              <a:rPr lang="en-US" sz="1500" b="1" dirty="0">
                <a:solidFill>
                  <a:schemeClr val="tx2"/>
                </a:solidFill>
              </a:rPr>
              <a:t>Engineered lysins</a:t>
            </a:r>
            <a:endParaRPr lang="en-US" sz="1500" dirty="0"/>
          </a:p>
          <a:p>
            <a:pPr indent="0" marL="0">
              <a:buNone/>
            </a:pPr>
            <a:r>
              <a:rPr lang="en-US" sz="1300" dirty="0">
                <a:solidFill>
                  <a:schemeClr val="tx1"/>
                </a:solidFill>
              </a:rPr>
              <a:t>Phage-derived enzymes that cross the outer membrane</a:t>
            </a:r>
            <a:endParaRPr lang="en-US" sz="1500" dirty="0"/>
          </a:p>
        </p:txBody>
      </p:sp>
      <p:sp>
        <p:nvSpPr>
          <p:cNvPr id="22" name="alt card 4"/>
          <p:cNvSpPr/>
          <p:nvPr/>
        </p:nvSpPr>
        <p:spPr>
          <a:xfrm>
            <a:off x="8519008" y="3154680"/>
            <a:ext cx="3124048" cy="1280160"/>
          </a:xfrm>
          <a:prstGeom prst="roundRect">
            <a:avLst>
              <a:gd name="adj" fmla="val 5714"/>
            </a:avLst>
          </a:prstGeom>
          <a:solidFill>
            <a:schemeClr val="bg2"/>
          </a:solidFill>
          <a:ln/>
        </p:spPr>
      </p:sp>
      <p:sp>
        <p:nvSpPr>
          <p:cNvPr id="23" name="alt 4 circle"/>
          <p:cNvSpPr/>
          <p:nvPr/>
        </p:nvSpPr>
        <p:spPr>
          <a:xfrm>
            <a:off x="8701888" y="3401568"/>
            <a:ext cx="685800" cy="685800"/>
          </a:xfrm>
          <a:prstGeom prst="ellipse">
            <a:avLst/>
          </a:prstGeom>
          <a:solidFill>
            <a:schemeClr val="accent1"/>
          </a:solidFill>
          <a:ln/>
        </p:spPr>
      </p:sp>
      <p:pic>
        <p:nvPicPr>
          <p:cNvPr id="24" name="alt 4 icon" descr="alt 4">    </p:cNvPr>
          <p:cNvPicPr>
            <a:picLocks noChangeAspect="1"/>
          </p:cNvPicPr>
          <p:nvPr/>
        </p:nvPicPr>
        <p:blipFill>
          <a:blip r:embed="rId5"/>
          <a:stretch>
            <a:fillRect/>
          </a:stretch>
        </p:blipFill>
        <p:spPr>
          <a:xfrm>
            <a:off x="8873338" y="3573018"/>
            <a:ext cx="342900" cy="342900"/>
          </a:xfrm>
          <a:prstGeom prst="rect">
            <a:avLst/>
          </a:prstGeom>
        </p:spPr>
      </p:pic>
      <p:sp>
        <p:nvSpPr>
          <p:cNvPr id="25" name="alt text 4"/>
          <p:cNvSpPr txBox="1"/>
          <p:nvPr/>
        </p:nvSpPr>
        <p:spPr>
          <a:xfrm>
            <a:off x="9524848" y="3291840"/>
            <a:ext cx="1981048" cy="1005840"/>
          </a:xfrm>
          <a:prstGeom prst="rect">
            <a:avLst/>
          </a:prstGeom>
          <a:noFill/>
          <a:ln/>
        </p:spPr>
        <p:txBody>
          <a:bodyPr wrap="square" lIns="0" tIns="0" rIns="0" bIns="0" rtlCol="0" anchor="ctr"/>
          <a:lstStyle/>
          <a:p>
            <a:pPr indent="0" marL="0">
              <a:buNone/>
            </a:pPr>
            <a:r>
              <a:rPr lang="en-US" sz="1500" b="1" dirty="0">
                <a:solidFill>
                  <a:schemeClr val="tx2"/>
                </a:solidFill>
              </a:rPr>
              <a:t>Microbiome manipulation</a:t>
            </a:r>
            <a:endParaRPr lang="en-US" sz="1500" dirty="0"/>
          </a:p>
          <a:p>
            <a:pPr indent="0" marL="0">
              <a:buNone/>
            </a:pPr>
            <a:r>
              <a:rPr lang="en-US" sz="1300" dirty="0">
                <a:solidFill>
                  <a:schemeClr val="tx1"/>
                </a:solidFill>
              </a:rPr>
              <a:t>Restore protective gut communities</a:t>
            </a:r>
            <a:endParaRPr lang="en-US" sz="1500" dirty="0"/>
          </a:p>
        </p:txBody>
      </p:sp>
      <p:sp>
        <p:nvSpPr>
          <p:cNvPr id="26" name="alt card 5"/>
          <p:cNvSpPr/>
          <p:nvPr/>
        </p:nvSpPr>
        <p:spPr>
          <a:xfrm>
            <a:off x="5120640" y="4663440"/>
            <a:ext cx="3124048" cy="1280160"/>
          </a:xfrm>
          <a:prstGeom prst="roundRect">
            <a:avLst>
              <a:gd name="adj" fmla="val 5714"/>
            </a:avLst>
          </a:prstGeom>
          <a:solidFill>
            <a:schemeClr val="bg2"/>
          </a:solidFill>
          <a:ln/>
        </p:spPr>
      </p:sp>
      <p:sp>
        <p:nvSpPr>
          <p:cNvPr id="27" name="alt 5 circle"/>
          <p:cNvSpPr/>
          <p:nvPr/>
        </p:nvSpPr>
        <p:spPr>
          <a:xfrm>
            <a:off x="5303520" y="4910328"/>
            <a:ext cx="685800" cy="685800"/>
          </a:xfrm>
          <a:prstGeom prst="ellipse">
            <a:avLst/>
          </a:prstGeom>
          <a:solidFill>
            <a:schemeClr val="accent1"/>
          </a:solidFill>
          <a:ln/>
        </p:spPr>
      </p:sp>
      <p:pic>
        <p:nvPicPr>
          <p:cNvPr id="28" name="alt 5 icon" descr="alt 5">    </p:cNvPr>
          <p:cNvPicPr>
            <a:picLocks noChangeAspect="1"/>
          </p:cNvPicPr>
          <p:nvPr/>
        </p:nvPicPr>
        <p:blipFill>
          <a:blip r:embed="rId6"/>
          <a:stretch>
            <a:fillRect/>
          </a:stretch>
        </p:blipFill>
        <p:spPr>
          <a:xfrm>
            <a:off x="5474970" y="5081778"/>
            <a:ext cx="342900" cy="342900"/>
          </a:xfrm>
          <a:prstGeom prst="rect">
            <a:avLst/>
          </a:prstGeom>
        </p:spPr>
      </p:pic>
      <p:sp>
        <p:nvSpPr>
          <p:cNvPr id="29" name="alt text 5"/>
          <p:cNvSpPr txBox="1"/>
          <p:nvPr/>
        </p:nvSpPr>
        <p:spPr>
          <a:xfrm>
            <a:off x="6126480" y="4800600"/>
            <a:ext cx="1981048" cy="1005840"/>
          </a:xfrm>
          <a:prstGeom prst="rect">
            <a:avLst/>
          </a:prstGeom>
          <a:noFill/>
          <a:ln/>
        </p:spPr>
        <p:txBody>
          <a:bodyPr wrap="square" lIns="0" tIns="0" rIns="0" bIns="0" rtlCol="0" anchor="ctr"/>
          <a:lstStyle/>
          <a:p>
            <a:pPr indent="0" marL="0">
              <a:buNone/>
            </a:pPr>
            <a:r>
              <a:rPr lang="en-US" sz="1500" b="1" dirty="0">
                <a:solidFill>
                  <a:schemeClr val="tx2"/>
                </a:solidFill>
              </a:rPr>
              <a:t>Host-directed therapies</a:t>
            </a:r>
            <a:endParaRPr lang="en-US" sz="1500" dirty="0"/>
          </a:p>
          <a:p>
            <a:pPr indent="0" marL="0">
              <a:buNone/>
            </a:pPr>
            <a:r>
              <a:rPr lang="en-US" sz="1300" dirty="0">
                <a:solidFill>
                  <a:schemeClr val="tx1"/>
                </a:solidFill>
              </a:rPr>
              <a:t>Immune modulation to enhance host defenses</a:t>
            </a:r>
            <a:endParaRPr lang="en-US" sz="1500" dirty="0"/>
          </a:p>
        </p:txBody>
      </p:sp>
      <p:sp>
        <p:nvSpPr>
          <p:cNvPr id="30" name="alt status note"/>
          <p:cNvSpPr txBox="1"/>
          <p:nvPr/>
        </p:nvSpPr>
        <p:spPr>
          <a:xfrm>
            <a:off x="8610448" y="4754880"/>
            <a:ext cx="2941168" cy="1097280"/>
          </a:xfrm>
          <a:prstGeom prst="rect">
            <a:avLst/>
          </a:prstGeom>
          <a:noFill/>
          <a:ln/>
        </p:spPr>
        <p:txBody>
          <a:bodyPr wrap="square" lIns="0" tIns="0" rIns="0" bIns="0" rtlCol="0" anchor="ctr"/>
          <a:lstStyle/>
          <a:p>
            <a:pPr indent="0" marL="0">
              <a:buNone/>
            </a:pPr>
            <a:r>
              <a:rPr lang="en-US" sz="1400" i="1" dirty="0">
                <a:solidFill>
                  <a:schemeClr val="accent2"/>
                </a:solidFill>
              </a:rPr>
              <a:t>Still investigational: promising as add-on or stand-alone options.</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lstStyle/>
          <a:p>
            <a:pPr indent="0" marL="0">
              <a:buNone/>
            </a:pPr>
            <a:r>
              <a:rPr lang="en-US" sz="1200" b="1" spc="300" kern="0" dirty="0">
                <a:solidFill>
                  <a:schemeClr val="accent1"/>
                </a:solidFill>
              </a:rPr>
              <a:t>AMR AWARENESS WEEK</a:t>
            </a:r>
            <a:endParaRPr lang="en-US" sz="1200" dirty="0"/>
          </a:p>
        </p:txBody>
      </p:sp>
      <p:sp>
        <p:nvSpPr>
          <p:cNvPr id="3" name="Text 0"/>
          <p:cNvSpPr/>
          <p:nvPr>
            <p:ph idx="101"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What each of us can do</a:t>
            </a:r>
            <a:endParaRPr lang="en-US" sz="3200" dirty="0"/>
          </a:p>
        </p:txBody>
      </p:sp>
      <p:sp>
        <p:nvSpPr>
          <p:cNvPr id="4" name="action card 1"/>
          <p:cNvSpPr/>
          <p:nvPr/>
        </p:nvSpPr>
        <p:spPr>
          <a:xfrm>
            <a:off x="548640" y="1600200"/>
            <a:ext cx="3484778" cy="1965960"/>
          </a:xfrm>
          <a:prstGeom prst="roundRect">
            <a:avLst>
              <a:gd name="adj" fmla="val 3721"/>
            </a:avLst>
          </a:prstGeom>
          <a:solidFill>
            <a:schemeClr val="bg2"/>
          </a:solidFill>
          <a:ln/>
        </p:spPr>
      </p:sp>
      <p:sp>
        <p:nvSpPr>
          <p:cNvPr id="5" name="action 1 circle"/>
          <p:cNvSpPr/>
          <p:nvPr/>
        </p:nvSpPr>
        <p:spPr>
          <a:xfrm>
            <a:off x="822960" y="1874520"/>
            <a:ext cx="731520" cy="731520"/>
          </a:xfrm>
          <a:prstGeom prst="ellipse">
            <a:avLst/>
          </a:prstGeom>
          <a:solidFill>
            <a:schemeClr val="accent1"/>
          </a:solidFill>
          <a:ln/>
        </p:spPr>
      </p:sp>
      <p:pic>
        <p:nvPicPr>
          <p:cNvPr id="6" name="action 1 icon" descr="action 1">    </p:cNvPr>
          <p:cNvPicPr>
            <a:picLocks noChangeAspect="1"/>
          </p:cNvPicPr>
          <p:nvPr/>
        </p:nvPicPr>
        <p:blipFill>
          <a:blip r:embed="rId1"/>
          <a:stretch>
            <a:fillRect/>
          </a:stretch>
        </p:blipFill>
        <p:spPr>
          <a:xfrm>
            <a:off x="1005840" y="2057400"/>
            <a:ext cx="365760" cy="365760"/>
          </a:xfrm>
          <a:prstGeom prst="rect">
            <a:avLst/>
          </a:prstGeom>
        </p:spPr>
      </p:pic>
      <p:sp>
        <p:nvSpPr>
          <p:cNvPr id="7" name="action head 1"/>
          <p:cNvSpPr txBox="1"/>
          <p:nvPr/>
        </p:nvSpPr>
        <p:spPr>
          <a:xfrm>
            <a:off x="1691640" y="1874520"/>
            <a:ext cx="2158898" cy="731520"/>
          </a:xfrm>
          <a:prstGeom prst="rect">
            <a:avLst/>
          </a:prstGeom>
          <a:noFill/>
          <a:ln/>
        </p:spPr>
        <p:txBody>
          <a:bodyPr wrap="square" lIns="0" tIns="0" rIns="0" bIns="0" rtlCol="0" anchor="ctr"/>
          <a:lstStyle/>
          <a:p>
            <a:pPr indent="0" marL="0">
              <a:buNone/>
            </a:pPr>
            <a:r>
              <a:rPr lang="en-US" sz="1700" b="1" dirty="0">
                <a:solidFill>
                  <a:schemeClr val="tx2"/>
                </a:solidFill>
              </a:rPr>
              <a:t>Break transmission</a:t>
            </a:r>
            <a:endParaRPr lang="en-US" sz="1700" dirty="0"/>
          </a:p>
        </p:txBody>
      </p:sp>
      <p:sp>
        <p:nvSpPr>
          <p:cNvPr id="8" name="action body 1"/>
          <p:cNvSpPr txBox="1"/>
          <p:nvPr/>
        </p:nvSpPr>
        <p:spPr>
          <a:xfrm>
            <a:off x="822960" y="2697480"/>
            <a:ext cx="2936138" cy="777240"/>
          </a:xfrm>
          <a:prstGeom prst="rect">
            <a:avLst/>
          </a:prstGeom>
          <a:noFill/>
          <a:ln/>
        </p:spPr>
        <p:txBody>
          <a:bodyPr wrap="square" lIns="0" tIns="0" rIns="0" bIns="0" rtlCol="0" anchor="t"/>
          <a:lstStyle/>
          <a:p>
            <a:pPr indent="0" marL="0">
              <a:buNone/>
            </a:pPr>
            <a:r>
              <a:rPr lang="en-US" sz="1400" dirty="0">
                <a:solidFill>
                  <a:schemeClr val="tx1"/>
                </a:solidFill>
              </a:rPr>
              <a:t>Hand hygiene every time, clean shared equipment, isolate colonized or infected patients</a:t>
            </a:r>
            <a:endParaRPr lang="en-US" sz="1400" dirty="0"/>
          </a:p>
        </p:txBody>
      </p:sp>
      <p:sp>
        <p:nvSpPr>
          <p:cNvPr id="9" name="action card 2"/>
          <p:cNvSpPr/>
          <p:nvPr/>
        </p:nvSpPr>
        <p:spPr>
          <a:xfrm>
            <a:off x="4353458" y="1600200"/>
            <a:ext cx="3484778" cy="1965960"/>
          </a:xfrm>
          <a:prstGeom prst="roundRect">
            <a:avLst>
              <a:gd name="adj" fmla="val 3721"/>
            </a:avLst>
          </a:prstGeom>
          <a:solidFill>
            <a:schemeClr val="bg2"/>
          </a:solidFill>
          <a:ln/>
        </p:spPr>
      </p:sp>
      <p:sp>
        <p:nvSpPr>
          <p:cNvPr id="10" name="action 2 circle"/>
          <p:cNvSpPr/>
          <p:nvPr/>
        </p:nvSpPr>
        <p:spPr>
          <a:xfrm>
            <a:off x="4627778" y="1874520"/>
            <a:ext cx="731520" cy="731520"/>
          </a:xfrm>
          <a:prstGeom prst="ellipse">
            <a:avLst/>
          </a:prstGeom>
          <a:solidFill>
            <a:schemeClr val="accent4"/>
          </a:solidFill>
          <a:ln/>
        </p:spPr>
      </p:sp>
      <p:pic>
        <p:nvPicPr>
          <p:cNvPr id="11" name="action 2 icon" descr="action 2">    </p:cNvPr>
          <p:cNvPicPr>
            <a:picLocks noChangeAspect="1"/>
          </p:cNvPicPr>
          <p:nvPr/>
        </p:nvPicPr>
        <p:blipFill>
          <a:blip r:embed="rId2"/>
          <a:stretch>
            <a:fillRect/>
          </a:stretch>
        </p:blipFill>
        <p:spPr>
          <a:xfrm>
            <a:off x="4810658" y="2057400"/>
            <a:ext cx="365760" cy="365760"/>
          </a:xfrm>
          <a:prstGeom prst="rect">
            <a:avLst/>
          </a:prstGeom>
        </p:spPr>
      </p:pic>
      <p:sp>
        <p:nvSpPr>
          <p:cNvPr id="12" name="action head 2"/>
          <p:cNvSpPr txBox="1"/>
          <p:nvPr/>
        </p:nvSpPr>
        <p:spPr>
          <a:xfrm>
            <a:off x="5496458" y="1874520"/>
            <a:ext cx="2158898" cy="731520"/>
          </a:xfrm>
          <a:prstGeom prst="rect">
            <a:avLst/>
          </a:prstGeom>
          <a:noFill/>
          <a:ln/>
        </p:spPr>
        <p:txBody>
          <a:bodyPr wrap="square" lIns="0" tIns="0" rIns="0" bIns="0" rtlCol="0" anchor="ctr"/>
          <a:lstStyle/>
          <a:p>
            <a:pPr indent="0" marL="0">
              <a:buNone/>
            </a:pPr>
            <a:r>
              <a:rPr lang="en-US" sz="1700" b="1" dirty="0">
                <a:solidFill>
                  <a:schemeClr val="tx2"/>
                </a:solidFill>
              </a:rPr>
              <a:t>Prescribe wisely</a:t>
            </a:r>
            <a:endParaRPr lang="en-US" sz="1700" dirty="0"/>
          </a:p>
        </p:txBody>
      </p:sp>
      <p:sp>
        <p:nvSpPr>
          <p:cNvPr id="13" name="action body 2"/>
          <p:cNvSpPr txBox="1"/>
          <p:nvPr/>
        </p:nvSpPr>
        <p:spPr>
          <a:xfrm>
            <a:off x="4627778" y="2697480"/>
            <a:ext cx="2936138" cy="777240"/>
          </a:xfrm>
          <a:prstGeom prst="rect">
            <a:avLst/>
          </a:prstGeom>
          <a:noFill/>
          <a:ln/>
        </p:spPr>
        <p:txBody>
          <a:bodyPr wrap="square" lIns="0" tIns="0" rIns="0" bIns="0" rtlCol="0" anchor="t"/>
          <a:lstStyle/>
          <a:p>
            <a:pPr indent="0" marL="0">
              <a:buNone/>
            </a:pPr>
            <a:r>
              <a:rPr lang="en-US" sz="1400" dirty="0">
                <a:solidFill>
                  <a:schemeClr val="tx1"/>
                </a:solidFill>
              </a:rPr>
              <a:t>Only when needed, the narrowest effective agent, and the shortest effective course</a:t>
            </a:r>
            <a:endParaRPr lang="en-US" sz="1400" dirty="0"/>
          </a:p>
        </p:txBody>
      </p:sp>
      <p:sp>
        <p:nvSpPr>
          <p:cNvPr id="14" name="action card 3"/>
          <p:cNvSpPr/>
          <p:nvPr/>
        </p:nvSpPr>
        <p:spPr>
          <a:xfrm>
            <a:off x="8158277" y="1600200"/>
            <a:ext cx="3484778" cy="1965960"/>
          </a:xfrm>
          <a:prstGeom prst="roundRect">
            <a:avLst>
              <a:gd name="adj" fmla="val 3721"/>
            </a:avLst>
          </a:prstGeom>
          <a:solidFill>
            <a:schemeClr val="bg2"/>
          </a:solidFill>
          <a:ln/>
        </p:spPr>
      </p:sp>
      <p:sp>
        <p:nvSpPr>
          <p:cNvPr id="15" name="action 3 circle"/>
          <p:cNvSpPr/>
          <p:nvPr/>
        </p:nvSpPr>
        <p:spPr>
          <a:xfrm>
            <a:off x="8432597" y="1874520"/>
            <a:ext cx="731520" cy="731520"/>
          </a:xfrm>
          <a:prstGeom prst="ellipse">
            <a:avLst/>
          </a:prstGeom>
          <a:solidFill>
            <a:schemeClr val="accent1"/>
          </a:solidFill>
          <a:ln/>
        </p:spPr>
      </p:sp>
      <p:pic>
        <p:nvPicPr>
          <p:cNvPr id="16" name="action 3 icon" descr="action 3">    </p:cNvPr>
          <p:cNvPicPr>
            <a:picLocks noChangeAspect="1"/>
          </p:cNvPicPr>
          <p:nvPr/>
        </p:nvPicPr>
        <p:blipFill>
          <a:blip r:embed="rId3"/>
          <a:stretch>
            <a:fillRect/>
          </a:stretch>
        </p:blipFill>
        <p:spPr>
          <a:xfrm>
            <a:off x="8615477" y="2057400"/>
            <a:ext cx="365760" cy="365760"/>
          </a:xfrm>
          <a:prstGeom prst="rect">
            <a:avLst/>
          </a:prstGeom>
        </p:spPr>
      </p:pic>
      <p:sp>
        <p:nvSpPr>
          <p:cNvPr id="17" name="action head 3"/>
          <p:cNvSpPr txBox="1"/>
          <p:nvPr/>
        </p:nvSpPr>
        <p:spPr>
          <a:xfrm>
            <a:off x="9301277" y="1874520"/>
            <a:ext cx="2158898" cy="731520"/>
          </a:xfrm>
          <a:prstGeom prst="rect">
            <a:avLst/>
          </a:prstGeom>
          <a:noFill/>
          <a:ln/>
        </p:spPr>
        <p:txBody>
          <a:bodyPr wrap="square" lIns="0" tIns="0" rIns="0" bIns="0" rtlCol="0" anchor="ctr"/>
          <a:lstStyle/>
          <a:p>
            <a:pPr indent="0" marL="0">
              <a:buNone/>
            </a:pPr>
            <a:r>
              <a:rPr lang="en-US" sz="1700" b="1" dirty="0">
                <a:solidFill>
                  <a:schemeClr val="tx2"/>
                </a:solidFill>
              </a:rPr>
              <a:t>Test, then target</a:t>
            </a:r>
            <a:endParaRPr lang="en-US" sz="1700" dirty="0"/>
          </a:p>
        </p:txBody>
      </p:sp>
      <p:sp>
        <p:nvSpPr>
          <p:cNvPr id="18" name="action body 3"/>
          <p:cNvSpPr txBox="1"/>
          <p:nvPr/>
        </p:nvSpPr>
        <p:spPr>
          <a:xfrm>
            <a:off x="8432597" y="2697480"/>
            <a:ext cx="2936138" cy="777240"/>
          </a:xfrm>
          <a:prstGeom prst="rect">
            <a:avLst/>
          </a:prstGeom>
          <a:noFill/>
          <a:ln/>
        </p:spPr>
        <p:txBody>
          <a:bodyPr wrap="square" lIns="0" tIns="0" rIns="0" bIns="0" rtlCol="0" anchor="t"/>
          <a:lstStyle/>
          <a:p>
            <a:pPr indent="0" marL="0">
              <a:buNone/>
            </a:pPr>
            <a:r>
              <a:rPr lang="en-US" sz="1400" dirty="0">
                <a:solidFill>
                  <a:schemeClr val="tx1"/>
                </a:solidFill>
              </a:rPr>
              <a:t>Send cultures, use rapid diagnostics, and match therapy to the enzyme</a:t>
            </a:r>
            <a:endParaRPr lang="en-US" sz="1400" dirty="0"/>
          </a:p>
        </p:txBody>
      </p:sp>
      <p:sp>
        <p:nvSpPr>
          <p:cNvPr id="19" name="action card 4"/>
          <p:cNvSpPr/>
          <p:nvPr/>
        </p:nvSpPr>
        <p:spPr>
          <a:xfrm>
            <a:off x="548640" y="3840480"/>
            <a:ext cx="3484778" cy="1965960"/>
          </a:xfrm>
          <a:prstGeom prst="roundRect">
            <a:avLst>
              <a:gd name="adj" fmla="val 3721"/>
            </a:avLst>
          </a:prstGeom>
          <a:solidFill>
            <a:schemeClr val="bg2"/>
          </a:solidFill>
          <a:ln/>
        </p:spPr>
      </p:sp>
      <p:sp>
        <p:nvSpPr>
          <p:cNvPr id="20" name="action 4 circle"/>
          <p:cNvSpPr/>
          <p:nvPr/>
        </p:nvSpPr>
        <p:spPr>
          <a:xfrm>
            <a:off x="822960" y="4114800"/>
            <a:ext cx="731520" cy="731520"/>
          </a:xfrm>
          <a:prstGeom prst="ellipse">
            <a:avLst/>
          </a:prstGeom>
          <a:solidFill>
            <a:schemeClr val="accent4"/>
          </a:solidFill>
          <a:ln/>
        </p:spPr>
      </p:sp>
      <p:pic>
        <p:nvPicPr>
          <p:cNvPr id="21" name="action 4 icon" descr="action 4">    </p:cNvPr>
          <p:cNvPicPr>
            <a:picLocks noChangeAspect="1"/>
          </p:cNvPicPr>
          <p:nvPr/>
        </p:nvPicPr>
        <p:blipFill>
          <a:blip r:embed="rId4"/>
          <a:stretch>
            <a:fillRect/>
          </a:stretch>
        </p:blipFill>
        <p:spPr>
          <a:xfrm>
            <a:off x="1005840" y="4297680"/>
            <a:ext cx="365760" cy="365760"/>
          </a:xfrm>
          <a:prstGeom prst="rect">
            <a:avLst/>
          </a:prstGeom>
        </p:spPr>
      </p:pic>
      <p:sp>
        <p:nvSpPr>
          <p:cNvPr id="22" name="action head 4"/>
          <p:cNvSpPr txBox="1"/>
          <p:nvPr/>
        </p:nvSpPr>
        <p:spPr>
          <a:xfrm>
            <a:off x="1691640" y="4114800"/>
            <a:ext cx="2158898" cy="731520"/>
          </a:xfrm>
          <a:prstGeom prst="rect">
            <a:avLst/>
          </a:prstGeom>
          <a:noFill/>
          <a:ln/>
        </p:spPr>
        <p:txBody>
          <a:bodyPr wrap="square" lIns="0" tIns="0" rIns="0" bIns="0" rtlCol="0" anchor="ctr"/>
          <a:lstStyle/>
          <a:p>
            <a:pPr indent="0" marL="0">
              <a:buNone/>
            </a:pPr>
            <a:r>
              <a:rPr lang="en-US" sz="1700" b="1" dirty="0">
                <a:solidFill>
                  <a:schemeClr val="tx2"/>
                </a:solidFill>
              </a:rPr>
              <a:t>Protect the new drugs</a:t>
            </a:r>
            <a:endParaRPr lang="en-US" sz="1700" dirty="0"/>
          </a:p>
        </p:txBody>
      </p:sp>
      <p:sp>
        <p:nvSpPr>
          <p:cNvPr id="23" name="action body 4"/>
          <p:cNvSpPr txBox="1"/>
          <p:nvPr/>
        </p:nvSpPr>
        <p:spPr>
          <a:xfrm>
            <a:off x="822960" y="4937760"/>
            <a:ext cx="2936138" cy="777240"/>
          </a:xfrm>
          <a:prstGeom prst="rect">
            <a:avLst/>
          </a:prstGeom>
          <a:noFill/>
          <a:ln/>
        </p:spPr>
        <p:txBody>
          <a:bodyPr wrap="square" lIns="0" tIns="0" rIns="0" bIns="0" rtlCol="0" anchor="t"/>
          <a:lstStyle/>
          <a:p>
            <a:pPr indent="0" marL="0">
              <a:buNone/>
            </a:pPr>
            <a:r>
              <a:rPr lang="en-US" sz="1400" dirty="0">
                <a:solidFill>
                  <a:schemeClr val="tx1"/>
                </a:solidFill>
              </a:rPr>
              <a:t>Reserve broad agents such as cefiderocol for when they are truly needed</a:t>
            </a:r>
            <a:endParaRPr lang="en-US" sz="1400" dirty="0"/>
          </a:p>
        </p:txBody>
      </p:sp>
      <p:sp>
        <p:nvSpPr>
          <p:cNvPr id="24" name="action card 5"/>
          <p:cNvSpPr/>
          <p:nvPr/>
        </p:nvSpPr>
        <p:spPr>
          <a:xfrm>
            <a:off x="4353458" y="3840480"/>
            <a:ext cx="3484778" cy="1965960"/>
          </a:xfrm>
          <a:prstGeom prst="roundRect">
            <a:avLst>
              <a:gd name="adj" fmla="val 3721"/>
            </a:avLst>
          </a:prstGeom>
          <a:solidFill>
            <a:schemeClr val="bg2"/>
          </a:solidFill>
          <a:ln/>
        </p:spPr>
      </p:sp>
      <p:sp>
        <p:nvSpPr>
          <p:cNvPr id="25" name="action 5 circle"/>
          <p:cNvSpPr/>
          <p:nvPr/>
        </p:nvSpPr>
        <p:spPr>
          <a:xfrm>
            <a:off x="4627778" y="4114800"/>
            <a:ext cx="731520" cy="731520"/>
          </a:xfrm>
          <a:prstGeom prst="ellipse">
            <a:avLst/>
          </a:prstGeom>
          <a:solidFill>
            <a:schemeClr val="accent1"/>
          </a:solidFill>
          <a:ln/>
        </p:spPr>
      </p:sp>
      <p:pic>
        <p:nvPicPr>
          <p:cNvPr id="26" name="action 5 icon" descr="action 5">    </p:cNvPr>
          <p:cNvPicPr>
            <a:picLocks noChangeAspect="1"/>
          </p:cNvPicPr>
          <p:nvPr/>
        </p:nvPicPr>
        <p:blipFill>
          <a:blip r:embed="rId5"/>
          <a:stretch>
            <a:fillRect/>
          </a:stretch>
        </p:blipFill>
        <p:spPr>
          <a:xfrm>
            <a:off x="4810658" y="4297680"/>
            <a:ext cx="365760" cy="365760"/>
          </a:xfrm>
          <a:prstGeom prst="rect">
            <a:avLst/>
          </a:prstGeom>
        </p:spPr>
      </p:pic>
      <p:sp>
        <p:nvSpPr>
          <p:cNvPr id="27" name="action head 5"/>
          <p:cNvSpPr txBox="1"/>
          <p:nvPr/>
        </p:nvSpPr>
        <p:spPr>
          <a:xfrm>
            <a:off x="5496458" y="4114800"/>
            <a:ext cx="2158898" cy="731520"/>
          </a:xfrm>
          <a:prstGeom prst="rect">
            <a:avLst/>
          </a:prstGeom>
          <a:noFill/>
          <a:ln/>
        </p:spPr>
        <p:txBody>
          <a:bodyPr wrap="square" lIns="0" tIns="0" rIns="0" bIns="0" rtlCol="0" anchor="ctr"/>
          <a:lstStyle/>
          <a:p>
            <a:pPr indent="0" marL="0">
              <a:buNone/>
            </a:pPr>
            <a:r>
              <a:rPr lang="en-US" sz="1700" b="1" dirty="0">
                <a:solidFill>
                  <a:schemeClr val="tx2"/>
                </a:solidFill>
              </a:rPr>
              <a:t>Ask about travel</a:t>
            </a:r>
            <a:endParaRPr lang="en-US" sz="1700" dirty="0"/>
          </a:p>
        </p:txBody>
      </p:sp>
      <p:sp>
        <p:nvSpPr>
          <p:cNvPr id="28" name="action body 5"/>
          <p:cNvSpPr txBox="1"/>
          <p:nvPr/>
        </p:nvSpPr>
        <p:spPr>
          <a:xfrm>
            <a:off x="4627778" y="4937760"/>
            <a:ext cx="2936138" cy="777240"/>
          </a:xfrm>
          <a:prstGeom prst="rect">
            <a:avLst/>
          </a:prstGeom>
          <a:noFill/>
          <a:ln/>
        </p:spPr>
        <p:txBody>
          <a:bodyPr wrap="square" lIns="0" tIns="0" rIns="0" bIns="0" rtlCol="0" anchor="t"/>
          <a:lstStyle/>
          <a:p>
            <a:pPr indent="0" marL="0">
              <a:buNone/>
            </a:pPr>
            <a:r>
              <a:rPr lang="en-US" sz="1400" dirty="0">
                <a:solidFill>
                  <a:schemeClr val="tx1"/>
                </a:solidFill>
              </a:rPr>
              <a:t>Recent care or travel in endemic regions raises colonization risk</a:t>
            </a:r>
            <a:endParaRPr lang="en-US" sz="1400" dirty="0"/>
          </a:p>
        </p:txBody>
      </p:sp>
      <p:sp>
        <p:nvSpPr>
          <p:cNvPr id="29" name="action card 6"/>
          <p:cNvSpPr/>
          <p:nvPr/>
        </p:nvSpPr>
        <p:spPr>
          <a:xfrm>
            <a:off x="8158277" y="3840480"/>
            <a:ext cx="3484778" cy="1965960"/>
          </a:xfrm>
          <a:prstGeom prst="roundRect">
            <a:avLst>
              <a:gd name="adj" fmla="val 3721"/>
            </a:avLst>
          </a:prstGeom>
          <a:solidFill>
            <a:schemeClr val="bg2"/>
          </a:solidFill>
          <a:ln/>
        </p:spPr>
      </p:sp>
      <p:sp>
        <p:nvSpPr>
          <p:cNvPr id="30" name="action 6 circle"/>
          <p:cNvSpPr/>
          <p:nvPr/>
        </p:nvSpPr>
        <p:spPr>
          <a:xfrm>
            <a:off x="8432597" y="4114800"/>
            <a:ext cx="731520" cy="731520"/>
          </a:xfrm>
          <a:prstGeom prst="ellipse">
            <a:avLst/>
          </a:prstGeom>
          <a:solidFill>
            <a:schemeClr val="accent4"/>
          </a:solidFill>
          <a:ln/>
        </p:spPr>
      </p:sp>
      <p:pic>
        <p:nvPicPr>
          <p:cNvPr id="31" name="action 6 icon" descr="action 6">    </p:cNvPr>
          <p:cNvPicPr>
            <a:picLocks noChangeAspect="1"/>
          </p:cNvPicPr>
          <p:nvPr/>
        </p:nvPicPr>
        <p:blipFill>
          <a:blip r:embed="rId6"/>
          <a:stretch>
            <a:fillRect/>
          </a:stretch>
        </p:blipFill>
        <p:spPr>
          <a:xfrm>
            <a:off x="8615477" y="4297680"/>
            <a:ext cx="365760" cy="365760"/>
          </a:xfrm>
          <a:prstGeom prst="rect">
            <a:avLst/>
          </a:prstGeom>
        </p:spPr>
      </p:pic>
      <p:sp>
        <p:nvSpPr>
          <p:cNvPr id="32" name="action head 6"/>
          <p:cNvSpPr txBox="1"/>
          <p:nvPr/>
        </p:nvSpPr>
        <p:spPr>
          <a:xfrm>
            <a:off x="9301277" y="4114800"/>
            <a:ext cx="2158898" cy="731520"/>
          </a:xfrm>
          <a:prstGeom prst="rect">
            <a:avLst/>
          </a:prstGeom>
          <a:noFill/>
          <a:ln/>
        </p:spPr>
        <p:txBody>
          <a:bodyPr wrap="square" lIns="0" tIns="0" rIns="0" bIns="0" rtlCol="0" anchor="ctr"/>
          <a:lstStyle/>
          <a:p>
            <a:pPr indent="0" marL="0">
              <a:buNone/>
            </a:pPr>
            <a:r>
              <a:rPr lang="en-US" sz="1700" b="1" dirty="0">
                <a:solidFill>
                  <a:schemeClr val="tx2"/>
                </a:solidFill>
              </a:rPr>
              <a:t>Think One Health</a:t>
            </a:r>
            <a:endParaRPr lang="en-US" sz="1700" dirty="0"/>
          </a:p>
        </p:txBody>
      </p:sp>
      <p:sp>
        <p:nvSpPr>
          <p:cNvPr id="33" name="action body 6"/>
          <p:cNvSpPr txBox="1"/>
          <p:nvPr/>
        </p:nvSpPr>
        <p:spPr>
          <a:xfrm>
            <a:off x="8432597" y="4937760"/>
            <a:ext cx="2936138" cy="777240"/>
          </a:xfrm>
          <a:prstGeom prst="rect">
            <a:avLst/>
          </a:prstGeom>
          <a:noFill/>
          <a:ln/>
        </p:spPr>
        <p:txBody>
          <a:bodyPr wrap="square" lIns="0" tIns="0" rIns="0" bIns="0" rtlCol="0" anchor="t"/>
          <a:lstStyle/>
          <a:p>
            <a:pPr indent="0" marL="0">
              <a:buNone/>
            </a:pPr>
            <a:r>
              <a:rPr lang="en-US" sz="1400" dirty="0">
                <a:solidFill>
                  <a:schemeClr val="tx1"/>
                </a:solidFill>
              </a:rPr>
              <a:t>Support responsible use across human, animal and environmental sectors</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7315200" cy="365760"/>
          </a:xfrm>
          <a:prstGeom prst="rect">
            <a:avLst/>
          </a:prstGeom>
          <a:noFill/>
          <a:ln/>
        </p:spPr>
        <p:txBody>
          <a:bodyPr wrap="square" lIns="0" tIns="0" rIns="0" bIns="0" rtlCol="0"/>
          <a:lstStyle/>
          <a:p>
            <a:pPr indent="0" marL="0">
              <a:buNone/>
            </a:pPr>
            <a:r>
              <a:rPr lang="en-US" sz="1400" b="1" spc="400" kern="0" dirty="0">
                <a:solidFill>
                  <a:schemeClr val="accent3"/>
                </a:solidFill>
              </a:rPr>
              <a:t>CONCLUSION</a:t>
            </a:r>
            <a:endParaRPr lang="en-US" sz="1400" dirty="0"/>
          </a:p>
        </p:txBody>
      </p:sp>
      <p:sp>
        <p:nvSpPr>
          <p:cNvPr id="3" name="Text 0"/>
          <p:cNvSpPr/>
          <p:nvPr>
            <p:ph idx="101" type="title" hasCustomPrompt="1"/>
          </p:nvPr>
        </p:nvSpPr>
        <p:spPr>
          <a:xfrm>
            <a:off x="548640" y="1828800"/>
            <a:ext cx="7315200" cy="2103120"/>
          </a:xfrm>
          <a:prstGeom prst="rect">
            <a:avLst/>
          </a:prstGeom>
          <a:noFill/>
          <a:ln/>
        </p:spPr>
        <p:txBody>
          <a:bodyPr wrap="square" lIns="0" tIns="0" rIns="0" bIns="0" rtlCol="0" anchor="t"/>
          <a:lstStyle/>
          <a:p>
            <a:pPr algn="l" indent="0" marL="0">
              <a:buNone/>
            </a:pPr>
            <a:r>
              <a:rPr lang="en-US" sz="4000" b="1" dirty="0">
                <a:solidFill>
                  <a:schemeClr val="bg1"/>
                </a:solidFill>
              </a:rPr>
              <a:t>Resistance is rising, but its trajectory is not predetermined</a:t>
            </a:r>
            <a:endParaRPr lang="en-US" sz="4000" dirty="0"/>
          </a:p>
        </p:txBody>
      </p:sp>
      <p:sp>
        <p:nvSpPr>
          <p:cNvPr id="4" name="Text 0"/>
          <p:cNvSpPr/>
          <p:nvPr>
            <p:ph idx="102" type="body" hasCustomPrompt="1"/>
          </p:nvPr>
        </p:nvSpPr>
        <p:spPr>
          <a:xfrm>
            <a:off x="548640" y="4114800"/>
            <a:ext cx="7132320" cy="1280160"/>
          </a:xfrm>
          <a:prstGeom prst="rect">
            <a:avLst/>
          </a:prstGeom>
          <a:noFill/>
          <a:ln/>
        </p:spPr>
        <p:txBody>
          <a:bodyPr wrap="square" lIns="0" tIns="0" rIns="0" bIns="0" rtlCol="0" anchor="t"/>
          <a:lstStyle/>
          <a:p>
            <a:pPr indent="0" marL="0">
              <a:buNone/>
            </a:pPr>
            <a:r>
              <a:rPr lang="en-US" sz="1800" dirty="0">
                <a:solidFill>
                  <a:schemeClr val="accent5"/>
                </a:solidFill>
              </a:rPr>
              <a:t>Scientific solutions exist. What remains is building the governance, financing and research networks to deploy them where they are most needed, and treating antibiotics as a shared public good.</a:t>
            </a:r>
            <a:endParaRPr lang="en-US" sz="1800" dirty="0"/>
          </a:p>
        </p:txBody>
      </p:sp>
      <p:sp>
        <p:nvSpPr>
          <p:cNvPr id="5" name="closing circle"/>
          <p:cNvSpPr/>
          <p:nvPr/>
        </p:nvSpPr>
        <p:spPr>
          <a:xfrm>
            <a:off x="8503920" y="1463040"/>
            <a:ext cx="3291840" cy="3291840"/>
          </a:xfrm>
          <a:prstGeom prst="ellipse">
            <a:avLst/>
          </a:prstGeom>
          <a:solidFill>
            <a:schemeClr val="accent1"/>
          </a:solidFill>
          <a:ln/>
        </p:spPr>
      </p:sp>
      <p:pic>
        <p:nvPicPr>
          <p:cNvPr id="6" name="closing globe" descr="Globe icon">    </p:cNvPr>
          <p:cNvPicPr>
            <a:picLocks noChangeAspect="1"/>
          </p:cNvPicPr>
          <p:nvPr/>
        </p:nvPicPr>
        <p:blipFill>
          <a:blip r:embed="rId1"/>
          <a:stretch>
            <a:fillRect/>
          </a:stretch>
        </p:blipFill>
        <p:spPr>
          <a:xfrm>
            <a:off x="9372600" y="2331720"/>
            <a:ext cx="1554480" cy="1554480"/>
          </a:xfrm>
          <a:prstGeom prst="rect">
            <a:avLst/>
          </a:prstGeom>
        </p:spPr>
      </p:pic>
      <p:sp>
        <p:nvSpPr>
          <p:cNvPr id="7" name="thanks"/>
          <p:cNvSpPr txBox="1"/>
          <p:nvPr/>
        </p:nvSpPr>
        <p:spPr>
          <a:xfrm>
            <a:off x="8229600" y="5029200"/>
            <a:ext cx="3840480" cy="457200"/>
          </a:xfrm>
          <a:prstGeom prst="rect">
            <a:avLst/>
          </a:prstGeom>
          <a:noFill/>
          <a:ln/>
        </p:spPr>
        <p:txBody>
          <a:bodyPr wrap="square" lIns="0" tIns="0" rIns="0" bIns="0" rtlCol="0" anchor="ctr"/>
          <a:lstStyle/>
          <a:p>
            <a:pPr algn="ctr" indent="0" marL="0">
              <a:buNone/>
            </a:pPr>
            <a:r>
              <a:rPr lang="en-US" sz="2000" b="1" dirty="0">
                <a:solidFill>
                  <a:schemeClr val="accent3"/>
                </a:solidFill>
              </a:rPr>
              <a:t>Thank you  ·  Questions?</a:t>
            </a:r>
            <a:endParaRPr lang="en-US" sz="2000" dirty="0"/>
          </a:p>
        </p:txBody>
      </p:sp>
      <p:sp>
        <p:nvSpPr>
          <p:cNvPr id="8" name="closing citation"/>
          <p:cNvSpPr txBox="1"/>
          <p:nvPr/>
        </p:nvSpPr>
        <p:spPr>
          <a:xfrm>
            <a:off x="548640" y="6035040"/>
            <a:ext cx="7772400" cy="365760"/>
          </a:xfrm>
          <a:prstGeom prst="rect">
            <a:avLst/>
          </a:prstGeom>
          <a:noFill/>
          <a:ln/>
        </p:spPr>
        <p:txBody>
          <a:bodyPr wrap="square" lIns="0" tIns="0" rIns="0" bIns="0" rtlCol="0" anchor="ctr"/>
          <a:lstStyle/>
          <a:p>
            <a:pPr indent="0" marL="0">
              <a:buNone/>
            </a:pPr>
            <a:r>
              <a:rPr lang="en-US" sz="1100" dirty="0">
                <a:solidFill>
                  <a:schemeClr val="accent5"/>
                </a:solidFill>
              </a:rPr>
              <a:t>Reference: Tamma PD. Gram-Negative Bacterial Resistance. N Engl J Med 2026;395:1728-43</a:t>
            </a:r>
            <a:endParaRPr lang="en-US" sz="1100" dirty="0"/>
          </a:p>
        </p:txBody>
      </p:sp>
    </p:spTree>
  </p:cSld>
  <p:clrMapOvr>
    <a:masterClrMapping/>
  </p:clrMapOvr>
</p:sld>
</file>

<file path=ppt/theme/theme1.xml><?xml version="1.0" encoding="utf-8"?>
<a:theme xmlns:a="http://schemas.openxmlformats.org/drawingml/2006/main" name="AMR Petri">
  <a:themeElements>
    <a:clrScheme name="AMR Petri">
      <a:dk1>
        <a:srgbClr val="14232B"/>
      </a:dk1>
      <a:lt1>
        <a:srgbClr val="FFFFFF"/>
      </a:lt1>
      <a:dk2>
        <a:srgbClr val="0B2E3B"/>
      </a:dk2>
      <a:lt2>
        <a:srgbClr val="EAF3F3"/>
      </a:lt2>
      <a:accent1>
        <a:srgbClr val="0E7C7B"/>
      </a:accent1>
      <a:accent2>
        <a:srgbClr val="C8344A"/>
      </a:accent2>
      <a:accent3>
        <a:srgbClr val="E3A33B"/>
      </a:accent3>
      <a:accent4>
        <a:srgbClr val="2E5E6E"/>
      </a:accent4>
      <a:accent5>
        <a:srgbClr val="7FB7B5"/>
      </a:accent5>
      <a:accent6>
        <a:srgbClr val="5B6770"/>
      </a:accent6>
      <a:hlink>
        <a:srgbClr val="0E7C7B"/>
      </a:hlink>
      <a:folHlink>
        <a:srgbClr val="2E5E6E"/>
      </a:folHlink>
    </a:clrScheme>
    <a:fontScheme name="AMR Petr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Gram-Negative Bacterial Resistance — AMR Awareness Week</dc:title>
  <dc:subject>Based on Tamma PD. N Engl J Med 2026;395:1728-43</dc:subject>
  <dc:creator>AMR Awareness Week</dc:creator>
  <cp:lastModifiedBy>AMR Awareness Week</cp:lastModifiedBy>
  <cp:revision>1</cp:revision>
  <dcterms:created xsi:type="dcterms:W3CDTF">2026-10-29T13:00:24Z</dcterms:created>
  <dcterms:modified xsi:type="dcterms:W3CDTF">2026-10-29T13:00:24Z</dcterms:modified>
</cp:coreProperties>
</file>